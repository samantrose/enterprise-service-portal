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371600" y="731520"/>
            <a:ext cx="9418320" cy="731520"/>
          </a:xfrm>
          <a:prstGeom prst="rect">
            <a:avLst/>
          </a:prstGeom>
          <a:noFill/>
        </p:spPr>
        <p:txBody>
          <a:bodyPr wrap="square">
            <a:spAutoFit/>
          </a:bodyPr>
          <a:lstStyle/>
          <a:p>
            <a:pPr algn="ctr">
              <a:defRPr sz="3800" b="1">
                <a:solidFill>
                  <a:srgbClr val="FFFFFF"/>
                </a:solidFill>
                <a:latin typeface="Calibri"/>
              </a:defRPr>
            </a:pPr>
            <a:r>
              <a:t>Enterprise IT &amp;</a:t>
            </a:r>
          </a:p>
        </p:txBody>
      </p:sp>
      <p:sp>
        <p:nvSpPr>
          <p:cNvPr id="3" name="TextBox 2"/>
          <p:cNvSpPr txBox="1"/>
          <p:nvPr/>
        </p:nvSpPr>
        <p:spPr>
          <a:xfrm>
            <a:off x="1371600" y="1280160"/>
            <a:ext cx="9418320" cy="731520"/>
          </a:xfrm>
          <a:prstGeom prst="rect">
            <a:avLst/>
          </a:prstGeom>
          <a:noFill/>
        </p:spPr>
        <p:txBody>
          <a:bodyPr wrap="square">
            <a:spAutoFit/>
          </a:bodyPr>
          <a:lstStyle/>
          <a:p>
            <a:pPr algn="ctr">
              <a:defRPr sz="3800" b="1">
                <a:solidFill>
                  <a:srgbClr val="60A5FA"/>
                </a:solidFill>
                <a:latin typeface="Calibri"/>
              </a:defRPr>
            </a:pPr>
            <a:r>
              <a:t>Corporate Facilities</a:t>
            </a:r>
          </a:p>
        </p:txBody>
      </p:sp>
      <p:sp>
        <p:nvSpPr>
          <p:cNvPr id="4" name="TextBox 3"/>
          <p:cNvSpPr txBox="1"/>
          <p:nvPr/>
        </p:nvSpPr>
        <p:spPr>
          <a:xfrm>
            <a:off x="1371600" y="1828800"/>
            <a:ext cx="9418320" cy="731520"/>
          </a:xfrm>
          <a:prstGeom prst="rect">
            <a:avLst/>
          </a:prstGeom>
          <a:noFill/>
        </p:spPr>
        <p:txBody>
          <a:bodyPr wrap="square">
            <a:spAutoFit/>
          </a:bodyPr>
          <a:lstStyle/>
          <a:p>
            <a:pPr algn="ctr">
              <a:defRPr sz="3800" b="1">
                <a:solidFill>
                  <a:srgbClr val="FFFFFF"/>
                </a:solidFill>
                <a:latin typeface="Calibri"/>
              </a:defRPr>
            </a:pPr>
            <a:r>
              <a:t>Service Portal</a:t>
            </a:r>
          </a:p>
        </p:txBody>
      </p:sp>
      <p:sp>
        <p:nvSpPr>
          <p:cNvPr id="5" name="TextBox 4"/>
          <p:cNvSpPr txBox="1"/>
          <p:nvPr/>
        </p:nvSpPr>
        <p:spPr>
          <a:xfrm>
            <a:off x="1371600" y="2743200"/>
            <a:ext cx="9418320" cy="457200"/>
          </a:xfrm>
          <a:prstGeom prst="rect">
            <a:avLst/>
          </a:prstGeom>
          <a:noFill/>
        </p:spPr>
        <p:txBody>
          <a:bodyPr wrap="square">
            <a:spAutoFit/>
          </a:bodyPr>
          <a:lstStyle/>
          <a:p>
            <a:pPr algn="ctr">
              <a:defRPr sz="1800" b="0">
                <a:solidFill>
                  <a:srgbClr val="94A3B8"/>
                </a:solidFill>
                <a:latin typeface="Calibri"/>
              </a:defRPr>
            </a:pPr>
            <a:r>
              <a:t>AI-Powered IT Operations &amp; Facilities Management Platform</a:t>
            </a:r>
          </a:p>
        </p:txBody>
      </p:sp>
      <p:sp>
        <p:nvSpPr>
          <p:cNvPr id="6" name="TextBox 5"/>
          <p:cNvSpPr txBox="1"/>
          <p:nvPr/>
        </p:nvSpPr>
        <p:spPr>
          <a:xfrm>
            <a:off x="1371600" y="3931920"/>
            <a:ext cx="4389120" cy="2011680"/>
          </a:xfrm>
          <a:prstGeom prst="rect">
            <a:avLst/>
          </a:prstGeom>
          <a:noFill/>
        </p:spPr>
        <p:txBody>
          <a:bodyPr wrap="square">
            <a:spAutoFit/>
          </a:bodyPr>
          <a:lstStyle/>
          <a:p>
            <a:pPr algn="ctr">
              <a:spcAft>
                <a:spcPts val="800"/>
              </a:spcAft>
              <a:defRPr sz="1400" b="1">
                <a:solidFill>
                  <a:srgbClr val="94A3B8"/>
                </a:solidFill>
                <a:latin typeface="Calibri"/>
              </a:defRPr>
            </a:pPr>
            <a:r>
              <a:t>Presented by</a:t>
            </a:r>
          </a:p>
          <a:p>
            <a:pPr>
              <a:spcBef>
                <a:spcPts val="400"/>
              </a:spcBef>
              <a:defRPr b="1" sz="1800">
                <a:solidFill>
                  <a:srgbClr val="FFFFFF"/>
                </a:solidFill>
              </a:defRPr>
            </a:pPr>
            <a:r>
              <a:t>SAM ANTROSE A H</a:t>
            </a:r>
          </a:p>
          <a:p>
            <a:pPr>
              <a:spcBef>
                <a:spcPts val="400"/>
              </a:spcBef>
              <a:defRPr b="1" sz="1800">
                <a:solidFill>
                  <a:srgbClr val="FFFFFF"/>
                </a:solidFill>
              </a:defRPr>
            </a:pPr>
            <a:r>
              <a:t>SARASWATHI E</a:t>
            </a:r>
          </a:p>
        </p:txBody>
      </p:sp>
      <p:sp>
        <p:nvSpPr>
          <p:cNvPr id="7" name="TextBox 6"/>
          <p:cNvSpPr txBox="1"/>
          <p:nvPr/>
        </p:nvSpPr>
        <p:spPr>
          <a:xfrm>
            <a:off x="6400800" y="3931920"/>
            <a:ext cx="4389120" cy="2011680"/>
          </a:xfrm>
          <a:prstGeom prst="rect">
            <a:avLst/>
          </a:prstGeom>
          <a:noFill/>
        </p:spPr>
        <p:txBody>
          <a:bodyPr wrap="square">
            <a:spAutoFit/>
          </a:bodyPr>
          <a:lstStyle/>
          <a:p>
            <a:pPr algn="ctr">
              <a:spcAft>
                <a:spcPts val="800"/>
              </a:spcAft>
              <a:defRPr sz="1400" b="1">
                <a:solidFill>
                  <a:srgbClr val="94A3B8"/>
                </a:solidFill>
                <a:latin typeface="Calibri"/>
              </a:defRPr>
            </a:pPr>
            <a:r>
              <a:t>Under the guidance</a:t>
            </a:r>
          </a:p>
          <a:p>
            <a:pPr>
              <a:spcBef>
                <a:spcPts val="400"/>
              </a:spcBef>
              <a:defRPr b="1" sz="1800">
                <a:solidFill>
                  <a:srgbClr val="FFFFFF"/>
                </a:solidFill>
              </a:defRPr>
            </a:pPr>
            <a:r>
              <a:t>Dr.Anitha Ruthh.J</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365760"/>
          </a:xfrm>
          <a:prstGeom prst="rect">
            <a:avLst/>
          </a:prstGeom>
          <a:noFill/>
        </p:spPr>
        <p:txBody>
          <a:bodyPr wrap="square">
            <a:spAutoFit/>
          </a:bodyPr>
          <a:lstStyle/>
          <a:p>
            <a:pPr algn="l">
              <a:defRPr sz="1100" b="1">
                <a:solidFill>
                  <a:srgbClr val="3B82F6"/>
                </a:solidFill>
                <a:latin typeface="Calibri"/>
              </a:defRPr>
            </a:pPr>
            <a:r>
              <a:t>SLIDE 01</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400" b="1">
                <a:solidFill>
                  <a:srgbClr val="0F172A"/>
                </a:solidFill>
                <a:latin typeface="Calibri"/>
              </a:defRPr>
            </a:pPr>
            <a:r>
              <a:t>Abstract</a:t>
            </a:r>
          </a:p>
        </p:txBody>
      </p:sp>
      <p:sp>
        <p:nvSpPr>
          <p:cNvPr id="4" name="Rectangle 3"/>
          <p:cNvSpPr/>
          <p:nvPr/>
        </p:nvSpPr>
        <p:spPr>
          <a:xfrm>
            <a:off x="731520" y="1234440"/>
            <a:ext cx="201168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10515600" cy="5029200"/>
          </a:xfrm>
          <a:prstGeom prst="rect">
            <a:avLst/>
          </a:prstGeom>
          <a:noFill/>
        </p:spPr>
        <p:txBody>
          <a:bodyPr wrap="square">
            <a:spAutoFit/>
          </a:bodyPr>
          <a:lstStyle/>
          <a:p>
            <a:pPr algn="l">
              <a:spcAft>
                <a:spcPts val="1000"/>
              </a:spcAft>
              <a:defRPr sz="1500" b="0">
                <a:solidFill>
                  <a:srgbClr val="475569"/>
                </a:solidFill>
                <a:latin typeface="Calibri"/>
              </a:defRPr>
            </a:pPr>
            <a:r>
              <a:t>The Enterprise IT &amp; Corporate Facilities Service Portal is an AI-powered web application designed to streamline IT support and facility management operations within an organization.</a:t>
            </a:r>
          </a:p>
          <a:p>
            <a:pPr>
              <a:spcBef>
                <a:spcPts val="1200"/>
              </a:spcBef>
              <a:spcAft>
                <a:spcPts val="1000"/>
              </a:spcAft>
              <a:defRPr sz="1500" b="0">
                <a:solidFill>
                  <a:srgbClr val="475569"/>
                </a:solidFill>
                <a:latin typeface="Calibri"/>
              </a:defRPr>
            </a:pPr>
            <a:r>
              <a:t>The system enables employees to submit service requests in plain English, which are then automatically classified using Natural Language Processing (NLP) models — DistilBERT for category detection and RoBERTa for urgency analysis. Based on the AI classification, tickets are automatically routed to the appropriate specialist team.</a:t>
            </a:r>
          </a:p>
          <a:p>
            <a:pPr>
              <a:spcBef>
                <a:spcPts val="1200"/>
              </a:spcBef>
              <a:spcAft>
                <a:spcPts val="1000"/>
              </a:spcAft>
              <a:defRPr sz="1500" b="0">
                <a:solidFill>
                  <a:srgbClr val="475569"/>
                </a:solidFill>
                <a:latin typeface="Calibri"/>
              </a:defRPr>
            </a:pPr>
            <a:r>
              <a:t>The portal supports three user roles — Admin, Employee, and Technician — each with dedicated dashboards. It features real-time SLA countdown timers, an emergency SOS telephony system with automated admin alerts, a self-service knowledge base, IT asset tracking, and executive analytics.</a:t>
            </a:r>
          </a:p>
          <a:p>
            <a:pPr>
              <a:spcBef>
                <a:spcPts val="1200"/>
              </a:spcBef>
              <a:spcAft>
                <a:spcPts val="1000"/>
              </a:spcAft>
              <a:defRPr sz="1500" b="0">
                <a:solidFill>
                  <a:srgbClr val="475569"/>
                </a:solidFill>
                <a:latin typeface="Calibri"/>
              </a:defRPr>
            </a:pPr>
            <a:r>
              <a:t>Built using HTML, CSS, JavaScript on the frontend and Python FastAPI with PostgreSQL on the backend, the portal delivers a production-grade enterprise solution developed across 12 modules over a 12-week schedule by a 2-person team.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365760"/>
          </a:xfrm>
          <a:prstGeom prst="rect">
            <a:avLst/>
          </a:prstGeom>
          <a:noFill/>
        </p:spPr>
        <p:txBody>
          <a:bodyPr wrap="square">
            <a:spAutoFit/>
          </a:bodyPr>
          <a:lstStyle/>
          <a:p>
            <a:pPr algn="l">
              <a:defRPr sz="1100" b="1">
                <a:solidFill>
                  <a:srgbClr val="3B82F6"/>
                </a:solidFill>
                <a:latin typeface="Calibri"/>
              </a:defRPr>
            </a:pPr>
            <a:r>
              <a:t>SLIDE 02</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400" b="1">
                <a:solidFill>
                  <a:srgbClr val="0F172A"/>
                </a:solidFill>
                <a:latin typeface="Calibri"/>
              </a:defRPr>
            </a:pPr>
            <a:r>
              <a:t>Introduction</a:t>
            </a:r>
          </a:p>
        </p:txBody>
      </p:sp>
      <p:sp>
        <p:nvSpPr>
          <p:cNvPr id="4" name="Rectangle 3"/>
          <p:cNvSpPr/>
          <p:nvPr/>
        </p:nvSpPr>
        <p:spPr>
          <a:xfrm>
            <a:off x="731520" y="1234440"/>
            <a:ext cx="256032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10515600" cy="5029200"/>
          </a:xfrm>
          <a:prstGeom prst="rect">
            <a:avLst/>
          </a:prstGeom>
          <a:noFill/>
        </p:spPr>
        <p:txBody>
          <a:bodyPr wrap="square">
            <a:spAutoFit/>
          </a:bodyPr>
          <a:lstStyle/>
          <a:p>
            <a:pPr algn="l">
              <a:spcAft>
                <a:spcPts val="1000"/>
              </a:spcAft>
              <a:defRPr sz="1500" b="0">
                <a:solidFill>
                  <a:srgbClr val="475569"/>
                </a:solidFill>
                <a:latin typeface="Calibri"/>
              </a:defRPr>
            </a:pPr>
            <a:r>
              <a:t>In modern enterprise environments, helpdesk operations are often slowed by manual workflows. This project introduces a unified, intelligent service portal designed to solve these bottlenecks by providing automated triage, real-time tracking, and emergency responsiveness.</a:t>
            </a:r>
          </a:p>
          <a:p>
            <a:pPr>
              <a:spcBef>
                <a:spcPts val="1200"/>
              </a:spcBef>
              <a:spcAft>
                <a:spcPts val="1000"/>
              </a:spcAft>
              <a:defRPr sz="1500" b="0">
                <a:solidFill>
                  <a:srgbClr val="475569"/>
                </a:solidFill>
                <a:latin typeface="Calibri"/>
              </a:defRPr>
            </a:pPr>
            <a:r>
              <a:t>The system utilizes Natural Language Processing (NLP) models to automatically classify incoming requests and route them to the appropriate specialist queues under strict Service Level Agreements (SLAs). Key capabilities include multi-role dashboards for admins, technicians, and employees, live countdown timers to monitor SLA compliance, and secure 2FA email authentication.</a:t>
            </a:r>
          </a:p>
          <a:p>
            <a:pPr>
              <a:spcBef>
                <a:spcPts val="1200"/>
              </a:spcBef>
              <a:spcAft>
                <a:spcPts val="1000"/>
              </a:spcAft>
              <a:defRPr sz="1500" b="0">
                <a:solidFill>
                  <a:srgbClr val="475569"/>
                </a:solidFill>
                <a:latin typeface="Calibri"/>
              </a:defRPr>
            </a:pPr>
            <a:r>
              <a:t>Additionally, the platform integrates an emergency SOS telephony feature to broadcast immediate alerts for critical incidents. By combining persistent PostgreSQL storage with smart deflection suggestions in a self-service knowledge base, the application reduces overall ticket volumes and minimizes manual overhead.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365760"/>
          </a:xfrm>
          <a:prstGeom prst="rect">
            <a:avLst/>
          </a:prstGeom>
          <a:noFill/>
        </p:spPr>
        <p:txBody>
          <a:bodyPr wrap="square">
            <a:spAutoFit/>
          </a:bodyPr>
          <a:lstStyle/>
          <a:p>
            <a:pPr algn="l">
              <a:defRPr sz="1100" b="1">
                <a:solidFill>
                  <a:srgbClr val="3B82F6"/>
                </a:solidFill>
                <a:latin typeface="Calibri"/>
              </a:defRPr>
            </a:pPr>
            <a:r>
              <a:t>SLIDE 03</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400" b="1">
                <a:solidFill>
                  <a:srgbClr val="0F172A"/>
                </a:solidFill>
                <a:latin typeface="Calibri"/>
              </a:defRPr>
            </a:pPr>
            <a:r>
              <a:t>Objectives</a:t>
            </a:r>
          </a:p>
        </p:txBody>
      </p:sp>
      <p:sp>
        <p:nvSpPr>
          <p:cNvPr id="4" name="Rectangle 3"/>
          <p:cNvSpPr/>
          <p:nvPr/>
        </p:nvSpPr>
        <p:spPr>
          <a:xfrm>
            <a:off x="731520" y="1234440"/>
            <a:ext cx="22860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10515600" cy="5029200"/>
          </a:xfrm>
          <a:prstGeom prst="rect">
            <a:avLst/>
          </a:prstGeom>
          <a:noFill/>
        </p:spPr>
        <p:txBody>
          <a:bodyPr wrap="square">
            <a:spAutoFit/>
          </a:bodyPr>
          <a:lstStyle/>
          <a:p>
            <a:pPr algn="l">
              <a:defRPr sz="1600" b="1">
                <a:solidFill>
                  <a:srgbClr val="0F172A"/>
                </a:solidFill>
                <a:latin typeface="Calibri"/>
              </a:defRPr>
            </a:pPr>
            <a:r>
              <a:t>Our key objectives in developing this portal include:</a:t>
            </a:r>
          </a:p>
          <a:p>
            <a:pPr>
              <a:spcBef>
                <a:spcPts val="1400"/>
              </a:spcBef>
              <a:spcAft>
                <a:spcPts val="400"/>
              </a:spcAft>
              <a:defRPr sz="1500" b="0">
                <a:solidFill>
                  <a:srgbClr val="475569"/>
                </a:solidFill>
                <a:latin typeface="Calibri"/>
              </a:defRPr>
            </a:pPr>
            <a:r>
              <a:t>▸  Automate ticket classification using AI/NLP to eliminate manual triage and human routing errors.</a:t>
            </a:r>
          </a:p>
          <a:p>
            <a:pPr>
              <a:spcBef>
                <a:spcPts val="1400"/>
              </a:spcBef>
              <a:spcAft>
                <a:spcPts val="400"/>
              </a:spcAft>
              <a:defRPr sz="1500" b="0">
                <a:solidFill>
                  <a:srgbClr val="475569"/>
                </a:solidFill>
                <a:latin typeface="Calibri"/>
              </a:defRPr>
            </a:pPr>
            <a:r>
              <a:t>▸  Provide real-time SLA visibility with live countdown timers to enforce prompt resolution.</a:t>
            </a:r>
          </a:p>
          <a:p>
            <a:pPr>
              <a:spcBef>
                <a:spcPts val="1400"/>
              </a:spcBef>
              <a:spcAft>
                <a:spcPts val="400"/>
              </a:spcAft>
              <a:defRPr sz="1500" b="0">
                <a:solidFill>
                  <a:srgbClr val="475569"/>
                </a:solidFill>
                <a:latin typeface="Calibri"/>
              </a:defRPr>
            </a:pPr>
            <a:r>
              <a:t>▸  Enable emergency response through telephony integrations and automated email notifications.</a:t>
            </a:r>
          </a:p>
          <a:p>
            <a:pPr>
              <a:spcBef>
                <a:spcPts val="1400"/>
              </a:spcBef>
              <a:spcAft>
                <a:spcPts val="400"/>
              </a:spcAft>
              <a:defRPr sz="1500" b="0">
                <a:solidFill>
                  <a:srgbClr val="475569"/>
                </a:solidFill>
                <a:latin typeface="Calibri"/>
              </a:defRPr>
            </a:pPr>
            <a:r>
              <a:t>▸  Reduce ticket volumes with a self-service knowledge base featuring smart issue-deflection suggestions.</a:t>
            </a:r>
          </a:p>
          <a:p>
            <a:pPr>
              <a:spcBef>
                <a:spcPts val="1400"/>
              </a:spcBef>
              <a:spcAft>
                <a:spcPts val="400"/>
              </a:spcAft>
              <a:defRPr sz="1500" b="0">
                <a:solidFill>
                  <a:srgbClr val="475569"/>
                </a:solidFill>
                <a:latin typeface="Calibri"/>
              </a:defRPr>
            </a:pPr>
            <a:r>
              <a:t>▸  Persist system data securely using a scalable, relational PostgreSQL database via Python FastAPI backend.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365760"/>
          </a:xfrm>
          <a:prstGeom prst="rect">
            <a:avLst/>
          </a:prstGeom>
          <a:noFill/>
        </p:spPr>
        <p:txBody>
          <a:bodyPr wrap="square">
            <a:spAutoFit/>
          </a:bodyPr>
          <a:lstStyle/>
          <a:p>
            <a:pPr algn="l">
              <a:defRPr sz="1100" b="1">
                <a:solidFill>
                  <a:srgbClr val="3B82F6"/>
                </a:solidFill>
                <a:latin typeface="Calibri"/>
              </a:defRPr>
            </a:pPr>
            <a:r>
              <a:t>SLIDE 04</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400" b="1">
                <a:solidFill>
                  <a:srgbClr val="0F172A"/>
                </a:solidFill>
                <a:latin typeface="Calibri"/>
              </a:defRPr>
            </a:pPr>
            <a:r>
              <a:t>Existing System</a:t>
            </a:r>
          </a:p>
        </p:txBody>
      </p:sp>
      <p:sp>
        <p:nvSpPr>
          <p:cNvPr id="4" name="Rectangle 3"/>
          <p:cNvSpPr/>
          <p:nvPr/>
        </p:nvSpPr>
        <p:spPr>
          <a:xfrm>
            <a:off x="731520" y="1234440"/>
            <a:ext cx="292608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10515600" cy="5029200"/>
          </a:xfrm>
          <a:prstGeom prst="rect">
            <a:avLst/>
          </a:prstGeom>
          <a:noFill/>
        </p:spPr>
        <p:txBody>
          <a:bodyPr wrap="square">
            <a:spAutoFit/>
          </a:bodyPr>
          <a:lstStyle/>
          <a:p>
            <a:pPr algn="l">
              <a:defRPr sz="1600" b="1">
                <a:solidFill>
                  <a:srgbClr val="0F172A"/>
                </a:solidFill>
                <a:latin typeface="Calibri"/>
              </a:defRPr>
            </a:pPr>
            <a:r>
              <a:t>The conventional service desk and facilities management model relies heavily on manual work:</a:t>
            </a:r>
          </a:p>
          <a:p>
            <a:pPr>
              <a:spcBef>
                <a:spcPts val="1400"/>
              </a:spcBef>
              <a:spcAft>
                <a:spcPts val="400"/>
              </a:spcAft>
              <a:defRPr sz="1500" b="0">
                <a:solidFill>
                  <a:srgbClr val="475569"/>
                </a:solidFill>
                <a:latin typeface="Calibri"/>
              </a:defRPr>
            </a:pPr>
            <a:r>
              <a:t>▸  Manual Routing — Tickets are analyzed and assigned manually, leading to delays and misrouted tasks.</a:t>
            </a:r>
          </a:p>
          <a:p>
            <a:pPr>
              <a:spcBef>
                <a:spcPts val="1400"/>
              </a:spcBef>
              <a:spcAft>
                <a:spcPts val="400"/>
              </a:spcAft>
              <a:defRPr sz="1500" b="0">
                <a:solidFill>
                  <a:srgbClr val="475569"/>
                </a:solidFill>
                <a:latin typeface="Calibri"/>
              </a:defRPr>
            </a:pPr>
            <a:r>
              <a:t>▸  Scattered Communication — Users rely on separate tools (emails, forms, spreadsheets) for different requests.</a:t>
            </a:r>
          </a:p>
          <a:p>
            <a:pPr>
              <a:spcBef>
                <a:spcPts val="1400"/>
              </a:spcBef>
              <a:spcAft>
                <a:spcPts val="400"/>
              </a:spcAft>
              <a:defRPr sz="1500" b="0">
                <a:solidFill>
                  <a:srgbClr val="475569"/>
                </a:solidFill>
                <a:latin typeface="Calibri"/>
              </a:defRPr>
            </a:pPr>
            <a:r>
              <a:t>▸  No Live Tracking — Technicians and users lack visibility into active resolution SLA deadlines.</a:t>
            </a:r>
          </a:p>
          <a:p>
            <a:pPr>
              <a:spcBef>
                <a:spcPts val="1400"/>
              </a:spcBef>
              <a:spcAft>
                <a:spcPts val="400"/>
              </a:spcAft>
              <a:defRPr sz="1500" b="0">
                <a:solidFill>
                  <a:srgbClr val="475569"/>
                </a:solidFill>
                <a:latin typeface="Calibri"/>
              </a:defRPr>
            </a:pPr>
            <a:r>
              <a:t>▸  Isolated Emergencies — Critical facilities emergencies (leaks, power failures) require manual voice calls with no automated broadcast alerts to system admins.</a:t>
            </a:r>
          </a:p>
          <a:p>
            <a:pPr>
              <a:spcBef>
                <a:spcPts val="1400"/>
              </a:spcBef>
              <a:spcAft>
                <a:spcPts val="400"/>
              </a:spcAft>
              <a:defRPr sz="1500" b="0">
                <a:solidFill>
                  <a:srgbClr val="475569"/>
                </a:solidFill>
                <a:latin typeface="Calibri"/>
              </a:defRPr>
            </a:pPr>
            <a:r>
              <a:t>▸  No Self-Service Help — Employees cannot resolve simple problems on their own, overloading support teams.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365760"/>
          </a:xfrm>
          <a:prstGeom prst="rect">
            <a:avLst/>
          </a:prstGeom>
          <a:noFill/>
        </p:spPr>
        <p:txBody>
          <a:bodyPr wrap="square">
            <a:spAutoFit/>
          </a:bodyPr>
          <a:lstStyle/>
          <a:p>
            <a:pPr algn="l">
              <a:defRPr sz="1100" b="1">
                <a:solidFill>
                  <a:srgbClr val="3B82F6"/>
                </a:solidFill>
                <a:latin typeface="Calibri"/>
              </a:defRPr>
            </a:pPr>
            <a:r>
              <a:t>SLIDE 05</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400" b="1">
                <a:solidFill>
                  <a:srgbClr val="0F172A"/>
                </a:solidFill>
                <a:latin typeface="Calibri"/>
              </a:defRPr>
            </a:pPr>
            <a:r>
              <a:t>Proposed System &amp; Solution</a:t>
            </a:r>
          </a:p>
        </p:txBody>
      </p:sp>
      <p:sp>
        <p:nvSpPr>
          <p:cNvPr id="4" name="Rectangle 3"/>
          <p:cNvSpPr/>
          <p:nvPr/>
        </p:nvSpPr>
        <p:spPr>
          <a:xfrm>
            <a:off x="731520" y="1234440"/>
            <a:ext cx="475488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10515600" cy="5029200"/>
          </a:xfrm>
          <a:prstGeom prst="rect">
            <a:avLst/>
          </a:prstGeom>
          <a:noFill/>
        </p:spPr>
        <p:txBody>
          <a:bodyPr wrap="square">
            <a:spAutoFit/>
          </a:bodyPr>
          <a:lstStyle/>
          <a:p>
            <a:pPr algn="l">
              <a:defRPr sz="1600" b="1">
                <a:solidFill>
                  <a:srgbClr val="0F172A"/>
                </a:solidFill>
                <a:latin typeface="Calibri"/>
              </a:defRPr>
            </a:pPr>
            <a:r>
              <a:t>We propose an integrated, AI-driven, multi-role IT and Facilities Service Portal:</a:t>
            </a:r>
          </a:p>
          <a:p>
            <a:pPr>
              <a:spcBef>
                <a:spcPts val="1000"/>
              </a:spcBef>
              <a:spcAft>
                <a:spcPts val="400"/>
              </a:spcAft>
              <a:defRPr sz="1500" b="0">
                <a:solidFill>
                  <a:srgbClr val="475569"/>
                </a:solidFill>
                <a:latin typeface="Calibri"/>
              </a:defRPr>
            </a:pPr>
            <a:r>
              <a:t>▸  Unified Hub — One web portal for IT hardware, software accesses, facilities requests, and emergency SOS alerts.</a:t>
            </a:r>
          </a:p>
          <a:p>
            <a:pPr>
              <a:spcBef>
                <a:spcPts val="1000"/>
              </a:spcBef>
              <a:spcAft>
                <a:spcPts val="400"/>
              </a:spcAft>
              <a:defRPr sz="1500" b="0">
                <a:solidFill>
                  <a:srgbClr val="475569"/>
                </a:solidFill>
                <a:latin typeface="Calibri"/>
              </a:defRPr>
            </a:pPr>
            <a:r>
              <a:t>▸  Instant AI Triage — Hugging Face NLP models process the ticket description on-the-fly, predicting categories and priorities.</a:t>
            </a:r>
          </a:p>
          <a:p>
            <a:pPr>
              <a:spcBef>
                <a:spcPts val="1000"/>
              </a:spcBef>
              <a:spcAft>
                <a:spcPts val="400"/>
              </a:spcAft>
              <a:defRPr sz="1500" b="0">
                <a:solidFill>
                  <a:srgbClr val="475569"/>
                </a:solidFill>
                <a:latin typeface="Calibri"/>
              </a:defRPr>
            </a:pPr>
            <a:r>
              <a:t>▸  Automated Routing — Backend automatically assigns tickets to specific specialist vendor teams (Dell, ChillTech, etc.).</a:t>
            </a:r>
          </a:p>
          <a:p>
            <a:pPr>
              <a:spcBef>
                <a:spcPts val="1000"/>
              </a:spcBef>
              <a:spcAft>
                <a:spcPts val="400"/>
              </a:spcAft>
              <a:defRPr sz="1500" b="0">
                <a:solidFill>
                  <a:srgbClr val="475569"/>
                </a:solidFill>
                <a:latin typeface="Calibri"/>
              </a:defRPr>
            </a:pPr>
            <a:r>
              <a:t>▸  Visual SLA Countdown — Live timers count down in real-time inside the technicians' queues, preventing SLA breaches.</a:t>
            </a:r>
          </a:p>
          <a:p>
            <a:pPr>
              <a:spcBef>
                <a:spcPts val="1000"/>
              </a:spcBef>
              <a:spcAft>
                <a:spcPts val="400"/>
              </a:spcAft>
              <a:defRPr sz="1500" b="0">
                <a:solidFill>
                  <a:srgbClr val="475569"/>
                </a:solidFill>
                <a:latin typeface="Calibri"/>
              </a:defRPr>
            </a:pPr>
            <a:r>
              <a:t>▸  Dual-Channel SOS Dispatch — Triggers a hardware phone call and alerts the admin via email concurrently with one click.</a:t>
            </a:r>
          </a:p>
          <a:p>
            <a:pPr>
              <a:spcBef>
                <a:spcPts val="1000"/>
              </a:spcBef>
              <a:spcAft>
                <a:spcPts val="400"/>
              </a:spcAft>
              <a:defRPr sz="1500" b="0">
                <a:solidFill>
                  <a:srgbClr val="475569"/>
                </a:solidFill>
                <a:latin typeface="Calibri"/>
              </a:defRPr>
            </a:pPr>
            <a:r>
              <a:t>▸  Robust Data Layer — PostgreSQL database stores all user accounts, active tickets, and activity logs securely.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365760"/>
          </a:xfrm>
          <a:prstGeom prst="rect">
            <a:avLst/>
          </a:prstGeom>
          <a:noFill/>
        </p:spPr>
        <p:txBody>
          <a:bodyPr wrap="square">
            <a:spAutoFit/>
          </a:bodyPr>
          <a:lstStyle/>
          <a:p>
            <a:pPr algn="l">
              <a:defRPr sz="1100" b="1">
                <a:solidFill>
                  <a:srgbClr val="3B82F6"/>
                </a:solidFill>
                <a:latin typeface="Calibri"/>
              </a:defRPr>
            </a:pPr>
            <a:r>
              <a:t>SLIDE 06</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400" b="1">
                <a:solidFill>
                  <a:srgbClr val="0F172A"/>
                </a:solidFill>
                <a:latin typeface="Calibri"/>
              </a:defRPr>
            </a:pPr>
            <a:r>
              <a:t>Problem Statement</a:t>
            </a:r>
          </a:p>
        </p:txBody>
      </p:sp>
      <p:sp>
        <p:nvSpPr>
          <p:cNvPr id="4" name="Rectangle 3"/>
          <p:cNvSpPr/>
          <p:nvPr/>
        </p:nvSpPr>
        <p:spPr>
          <a:xfrm>
            <a:off x="731520" y="1234440"/>
            <a:ext cx="347472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10515600" cy="5029200"/>
          </a:xfrm>
          <a:prstGeom prst="rect">
            <a:avLst/>
          </a:prstGeom>
          <a:noFill/>
        </p:spPr>
        <p:txBody>
          <a:bodyPr wrap="square">
            <a:spAutoFit/>
          </a:bodyPr>
          <a:lstStyle/>
          <a:p>
            <a:pPr algn="l">
              <a:spcAft>
                <a:spcPts val="1000"/>
              </a:spcAft>
              <a:defRPr sz="1500" b="0">
                <a:solidFill>
                  <a:srgbClr val="475569"/>
                </a:solidFill>
                <a:latin typeface="Calibri"/>
              </a:defRPr>
            </a:pPr>
            <a:r>
              <a:t>Modern organizations suffer from massive operational bottlenecks due to legacy service desks and facilities management systems. These traditional setups rely on human dispatchers, leading to high Mean Time to Resolution (MTTR) and manual triage delays that stall critical business processes.</a:t>
            </a:r>
          </a:p>
          <a:p>
            <a:pPr>
              <a:spcBef>
                <a:spcPts val="1200"/>
              </a:spcBef>
              <a:spcAft>
                <a:spcPts val="1000"/>
              </a:spcAft>
              <a:defRPr sz="1500" b="0">
                <a:solidFill>
                  <a:srgbClr val="475569"/>
                </a:solidFill>
                <a:latin typeface="Calibri"/>
              </a:defRPr>
            </a:pPr>
            <a:r>
              <a:t>Furthermore, manual routing results in an error rate of over 30%, sending tickets to incorrect technician queues. The lack of real-time SLA visualization causes unmanaged SLA breaches, while disconnected communication channels—such as separate email chains, spreadsheets, and forms—prevent cohesive issue resolution.</a:t>
            </a:r>
          </a:p>
          <a:p>
            <a:pPr>
              <a:spcBef>
                <a:spcPts val="1200"/>
              </a:spcBef>
              <a:spcAft>
                <a:spcPts val="1000"/>
              </a:spcAft>
              <a:defRPr sz="1500" b="0">
                <a:solidFill>
                  <a:srgbClr val="475569"/>
                </a:solidFill>
                <a:latin typeface="Calibri"/>
              </a:defRPr>
            </a:pPr>
            <a:r>
              <a:t>These disconnected tools also isolate critical facilities emergencies from system administrators. Ultimately, maintaining dedicated triage personnel to manually sort through hundreds of daily requests incurs high operating costs, highlighting the need for an automated, intelligent, and integrated portal.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365760"/>
          </a:xfrm>
          <a:prstGeom prst="rect">
            <a:avLst/>
          </a:prstGeom>
          <a:noFill/>
        </p:spPr>
        <p:txBody>
          <a:bodyPr wrap="square">
            <a:spAutoFit/>
          </a:bodyPr>
          <a:lstStyle/>
          <a:p>
            <a:pPr algn="l">
              <a:defRPr sz="1100" b="1">
                <a:solidFill>
                  <a:srgbClr val="3B82F6"/>
                </a:solidFill>
                <a:latin typeface="Calibri"/>
              </a:defRPr>
            </a:pPr>
            <a:r>
              <a:t>SLIDE 07</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400" b="1">
                <a:solidFill>
                  <a:srgbClr val="0F172A"/>
                </a:solidFill>
                <a:latin typeface="Calibri"/>
              </a:defRPr>
            </a:pPr>
            <a:r>
              <a:t>Modules (12 Modules)</a:t>
            </a:r>
          </a:p>
        </p:txBody>
      </p:sp>
      <p:sp>
        <p:nvSpPr>
          <p:cNvPr id="4" name="Rectangle 3"/>
          <p:cNvSpPr/>
          <p:nvPr/>
        </p:nvSpPr>
        <p:spPr>
          <a:xfrm>
            <a:off x="731520" y="1234440"/>
            <a:ext cx="384048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10515600" cy="365760"/>
          </a:xfrm>
          <a:prstGeom prst="rect">
            <a:avLst/>
          </a:prstGeom>
          <a:noFill/>
        </p:spPr>
        <p:txBody>
          <a:bodyPr wrap="square">
            <a:spAutoFit/>
          </a:bodyPr>
          <a:lstStyle/>
          <a:p>
            <a:pPr algn="l">
              <a:defRPr sz="1500" b="1">
                <a:solidFill>
                  <a:srgbClr val="0F172A"/>
                </a:solidFill>
                <a:latin typeface="Calibri"/>
              </a:defRPr>
            </a:pPr>
            <a:r>
              <a:t>The application is built across 12 independent modules developed weekly:</a:t>
            </a:r>
          </a:p>
        </p:txBody>
      </p:sp>
      <p:sp>
        <p:nvSpPr>
          <p:cNvPr id="6" name="TextBox 5"/>
          <p:cNvSpPr txBox="1"/>
          <p:nvPr/>
        </p:nvSpPr>
        <p:spPr>
          <a:xfrm>
            <a:off x="731520" y="1828800"/>
            <a:ext cx="5120640" cy="4572000"/>
          </a:xfrm>
          <a:prstGeom prst="rect">
            <a:avLst/>
          </a:prstGeom>
          <a:noFill/>
        </p:spPr>
        <p:txBody>
          <a:bodyPr wrap="square">
            <a:spAutoFit/>
          </a:bodyPr>
          <a:lstStyle/>
          <a:p>
            <a:pPr algn="l">
              <a:spcAft>
                <a:spcPts val="800"/>
              </a:spcAft>
              <a:defRPr sz="1300" b="0">
                <a:solidFill>
                  <a:srgbClr val="475569"/>
                </a:solidFill>
                <a:latin typeface="Calibri"/>
              </a:defRPr>
            </a:pPr>
            <a:r>
              <a:t>▸  M1: Core UI &amp; Design System — Glassmorphism UI layout, responsive layouts, CSS tokens, and animations.</a:t>
            </a:r>
          </a:p>
          <a:p>
            <a:pPr>
              <a:spcBef>
                <a:spcPts val="600"/>
              </a:spcBef>
              <a:spcAft>
                <a:spcPts val="600"/>
              </a:spcAft>
              <a:defRPr sz="1300" b="0">
                <a:solidFill>
                  <a:srgbClr val="475569"/>
                </a:solidFill>
                <a:latin typeface="Calibri"/>
              </a:defRPr>
            </a:pPr>
            <a:r>
              <a:t>▸  M2: Authentication &amp; 2FA — Multi-role secure login, email OTP verification, and account lockout.</a:t>
            </a:r>
          </a:p>
          <a:p>
            <a:pPr>
              <a:spcBef>
                <a:spcPts val="600"/>
              </a:spcBef>
              <a:spcAft>
                <a:spcPts val="600"/>
              </a:spcAft>
              <a:defRPr sz="1300" b="0">
                <a:solidFill>
                  <a:srgbClr val="475569"/>
                </a:solidFill>
                <a:latin typeface="Calibri"/>
              </a:defRPr>
            </a:pPr>
            <a:r>
              <a:t>▸  M3: Service Desk Engine — Ticket creation, domain-filtered queues, and live SLA timers.</a:t>
            </a:r>
          </a:p>
          <a:p>
            <a:pPr>
              <a:spcBef>
                <a:spcPts val="600"/>
              </a:spcBef>
              <a:spcAft>
                <a:spcPts val="600"/>
              </a:spcAft>
              <a:defRPr sz="1300" b="0">
                <a:solidFill>
                  <a:srgbClr val="475569"/>
                </a:solidFill>
                <a:latin typeface="Calibri"/>
              </a:defRPr>
            </a:pPr>
            <a:r>
              <a:t>▸  M4: Emergency SOS &amp; Telephony — One-click emergency call trigger and admin email alerts.</a:t>
            </a:r>
          </a:p>
          <a:p>
            <a:pPr>
              <a:spcBef>
                <a:spcPts val="600"/>
              </a:spcBef>
              <a:spcAft>
                <a:spcPts val="600"/>
              </a:spcAft>
              <a:defRPr sz="1300" b="0">
                <a:solidFill>
                  <a:srgbClr val="475569"/>
                </a:solidFill>
                <a:latin typeface="Calibri"/>
              </a:defRPr>
            </a:pPr>
            <a:r>
              <a:t>▸  M5: AI NLP Microservice — DistilBERT category detection and RoBERTa urgency triage.</a:t>
            </a:r>
          </a:p>
          <a:p>
            <a:pPr>
              <a:spcBef>
                <a:spcPts val="600"/>
              </a:spcBef>
              <a:spcAft>
                <a:spcPts val="600"/>
              </a:spcAft>
              <a:defRPr sz="1300" b="0">
                <a:solidFill>
                  <a:srgbClr val="475569"/>
                </a:solidFill>
                <a:latin typeface="Calibri"/>
              </a:defRPr>
            </a:pPr>
            <a:r>
              <a:t>▸  M6: Knowledge Base — Searchable articles and smart suggestions to deflect tickets.</a:t>
            </a:r>
          </a:p>
        </p:txBody>
      </p:sp>
      <p:sp>
        <p:nvSpPr>
          <p:cNvPr id="7" name="TextBox 6"/>
          <p:cNvSpPr txBox="1"/>
          <p:nvPr/>
        </p:nvSpPr>
        <p:spPr>
          <a:xfrm>
            <a:off x="6217920" y="1828800"/>
            <a:ext cx="5120640" cy="4572000"/>
          </a:xfrm>
          <a:prstGeom prst="rect">
            <a:avLst/>
          </a:prstGeom>
          <a:noFill/>
        </p:spPr>
        <p:txBody>
          <a:bodyPr wrap="square">
            <a:spAutoFit/>
          </a:bodyPr>
          <a:lstStyle/>
          <a:p>
            <a:pPr algn="l">
              <a:spcAft>
                <a:spcPts val="800"/>
              </a:spcAft>
              <a:defRPr sz="1300" b="0">
                <a:solidFill>
                  <a:srgbClr val="475569"/>
                </a:solidFill>
                <a:latin typeface="Calibri"/>
              </a:defRPr>
            </a:pPr>
            <a:r>
              <a:t>▸  M7: IT Asset Management (ITAM) — Device inventory, warranty alerts, and ticket-asset linking.</a:t>
            </a:r>
          </a:p>
          <a:p>
            <a:pPr>
              <a:spcBef>
                <a:spcPts val="600"/>
              </a:spcBef>
              <a:spcAft>
                <a:spcPts val="600"/>
              </a:spcAft>
              <a:defRPr sz="1300" b="0">
                <a:solidFill>
                  <a:srgbClr val="475569"/>
                </a:solidFill>
                <a:latin typeface="Calibri"/>
              </a:defRPr>
            </a:pPr>
            <a:r>
              <a:t>▸  M8: Major Incidents Workspace — Crisis workspace, timelines, and batch ticket resolution.</a:t>
            </a:r>
          </a:p>
          <a:p>
            <a:pPr>
              <a:spcBef>
                <a:spcPts val="600"/>
              </a:spcBef>
              <a:spcAft>
                <a:spcPts val="600"/>
              </a:spcAft>
              <a:defRPr sz="1300" b="0">
                <a:solidFill>
                  <a:srgbClr val="475569"/>
                </a:solidFill>
                <a:latin typeface="Calibri"/>
              </a:defRPr>
            </a:pPr>
            <a:r>
              <a:t>▸  M9: Analytics &amp; Reporting — Visual charts tracking MTTR and vendor compliance.</a:t>
            </a:r>
          </a:p>
          <a:p>
            <a:pPr>
              <a:spcBef>
                <a:spcPts val="600"/>
              </a:spcBef>
              <a:spcAft>
                <a:spcPts val="600"/>
              </a:spcAft>
              <a:defRPr sz="1300" b="0">
                <a:solidFill>
                  <a:srgbClr val="475569"/>
                </a:solidFill>
                <a:latin typeface="Calibri"/>
              </a:defRPr>
            </a:pPr>
            <a:r>
              <a:t>▸  M10: Change Management — Change requests, approvals, and risk classification.</a:t>
            </a:r>
          </a:p>
          <a:p>
            <a:pPr>
              <a:spcBef>
                <a:spcPts val="600"/>
              </a:spcBef>
              <a:spcAft>
                <a:spcPts val="600"/>
              </a:spcAft>
              <a:defRPr sz="1300" b="0">
                <a:solidFill>
                  <a:srgbClr val="475569"/>
                </a:solidFill>
                <a:latin typeface="Calibri"/>
              </a:defRPr>
            </a:pPr>
            <a:r>
              <a:t>▸  M11: Employee Self-Service — In-ticket chat, CSAT surveys, and profile actions.</a:t>
            </a:r>
          </a:p>
          <a:p>
            <a:pPr>
              <a:spcBef>
                <a:spcPts val="600"/>
              </a:spcBef>
              <a:spcAft>
                <a:spcPts val="600"/>
              </a:spcAft>
              <a:defRPr sz="1300" b="0">
                <a:solidFill>
                  <a:srgbClr val="475569"/>
                </a:solidFill>
                <a:latin typeface="Calibri"/>
              </a:defRPr>
            </a:pPr>
            <a:r>
              <a:t>▸  M12: Governance &amp; Polish — Dark/Light themes, security audit trail, and final UAT testing.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365760"/>
          </a:xfrm>
          <a:prstGeom prst="rect">
            <a:avLst/>
          </a:prstGeom>
          <a:noFill/>
        </p:spPr>
        <p:txBody>
          <a:bodyPr wrap="square">
            <a:spAutoFit/>
          </a:bodyPr>
          <a:lstStyle/>
          <a:p>
            <a:pPr algn="l">
              <a:defRPr sz="1100" b="1">
                <a:solidFill>
                  <a:srgbClr val="3B82F6"/>
                </a:solidFill>
                <a:latin typeface="Calibri"/>
              </a:defRPr>
            </a:pPr>
            <a:r>
              <a:t>SLIDE 08</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400" b="1">
                <a:solidFill>
                  <a:srgbClr val="0F172A"/>
                </a:solidFill>
                <a:latin typeface="Calibri"/>
              </a:defRPr>
            </a:pPr>
            <a:r>
              <a:t>Data Flow Diagram (DFD)</a:t>
            </a:r>
          </a:p>
        </p:txBody>
      </p:sp>
      <p:sp>
        <p:nvSpPr>
          <p:cNvPr id="4" name="Rectangle 3"/>
          <p:cNvSpPr/>
          <p:nvPr/>
        </p:nvSpPr>
        <p:spPr>
          <a:xfrm>
            <a:off x="731520" y="1234440"/>
            <a:ext cx="41148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1645920"/>
            <a:ext cx="2743200" cy="6400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tIns="73152" bIns="73152" lIns="73152" rIns="73152"/>
          <a:lstStyle/>
          <a:p>
            <a:pPr algn="ctr">
              <a:defRPr sz="1200" b="1">
                <a:solidFill>
                  <a:srgbClr val="FFFFFF"/>
                </a:solidFill>
                <a:latin typeface="Calibri"/>
              </a:defRPr>
            </a:pPr>
            <a:r>
              <a:t>Employee</a:t>
            </a:r>
          </a:p>
          <a:p>
            <a:pPr algn="ctr">
              <a:spcBef>
                <a:spcPts val="400"/>
              </a:spcBef>
              <a:defRPr sz="950" b="0">
                <a:solidFill>
                  <a:srgbClr val="94A3B8"/>
                </a:solidFill>
                <a:latin typeface="Calibri"/>
              </a:defRPr>
            </a:pPr>
            <a:r>
              <a:t>Initiates requests &amp; views SLAs</a:t>
            </a:r>
          </a:p>
        </p:txBody>
      </p:sp>
      <p:sp>
        <p:nvSpPr>
          <p:cNvPr id="6" name="Rectangle 5"/>
          <p:cNvSpPr/>
          <p:nvPr/>
        </p:nvSpPr>
        <p:spPr>
          <a:xfrm>
            <a:off x="4663440" y="1645920"/>
            <a:ext cx="2743200" cy="6400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tIns="73152" bIns="73152" lIns="73152" rIns="73152"/>
          <a:lstStyle/>
          <a:p>
            <a:pPr algn="ctr">
              <a:defRPr sz="1200" b="1">
                <a:solidFill>
                  <a:srgbClr val="FFFFFF"/>
                </a:solidFill>
                <a:latin typeface="Calibri"/>
              </a:defRPr>
            </a:pPr>
            <a:r>
              <a:t>Technician</a:t>
            </a:r>
          </a:p>
          <a:p>
            <a:pPr algn="ctr">
              <a:spcBef>
                <a:spcPts val="400"/>
              </a:spcBef>
              <a:defRPr sz="950" b="0">
                <a:solidFill>
                  <a:srgbClr val="94A3B8"/>
                </a:solidFill>
                <a:latin typeface="Calibri"/>
              </a:defRPr>
            </a:pPr>
            <a:r>
              <a:t>Resolves tickets &amp; updates status</a:t>
            </a:r>
          </a:p>
        </p:txBody>
      </p:sp>
      <p:sp>
        <p:nvSpPr>
          <p:cNvPr id="7" name="Rectangle 6"/>
          <p:cNvSpPr/>
          <p:nvPr/>
        </p:nvSpPr>
        <p:spPr>
          <a:xfrm>
            <a:off x="8412480" y="1645920"/>
            <a:ext cx="2743200" cy="6400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wrap="square" tIns="73152" bIns="73152" lIns="73152" rIns="73152"/>
          <a:lstStyle/>
          <a:p>
            <a:pPr algn="ctr">
              <a:defRPr sz="1200" b="1">
                <a:solidFill>
                  <a:srgbClr val="FFFFFF"/>
                </a:solidFill>
                <a:latin typeface="Calibri"/>
              </a:defRPr>
            </a:pPr>
            <a:r>
              <a:t>System Admin</a:t>
            </a:r>
          </a:p>
          <a:p>
            <a:pPr algn="ctr">
              <a:spcBef>
                <a:spcPts val="400"/>
              </a:spcBef>
              <a:defRPr sz="950" b="0">
                <a:solidFill>
                  <a:srgbClr val="94A3B8"/>
                </a:solidFill>
                <a:latin typeface="Calibri"/>
              </a:defRPr>
            </a:pPr>
            <a:r>
              <a:t>Monitors accuracy &amp; reports</a:t>
            </a:r>
          </a:p>
        </p:txBody>
      </p:sp>
      <p:sp>
        <p:nvSpPr>
          <p:cNvPr id="8" name="Rounded Rectangle 7"/>
          <p:cNvSpPr/>
          <p:nvPr/>
        </p:nvSpPr>
        <p:spPr>
          <a:xfrm>
            <a:off x="914400" y="3108960"/>
            <a:ext cx="2743200" cy="822960"/>
          </a:xfrm>
          <a:prstGeom prst="roundRect">
            <a:avLst/>
          </a:prstGeom>
          <a:solidFill>
            <a:srgbClr val="F1F5F9"/>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tIns="73152" bIns="73152" lIns="73152" rIns="73152"/>
          <a:lstStyle/>
          <a:p>
            <a:pPr algn="ctr">
              <a:defRPr sz="1200" b="1">
                <a:solidFill>
                  <a:srgbClr val="1D4ED8"/>
                </a:solidFill>
                <a:latin typeface="Calibri"/>
              </a:defRPr>
            </a:pPr>
            <a:r>
              <a:t>1.0 Submit &amp; Triage</a:t>
            </a:r>
          </a:p>
          <a:p>
            <a:pPr algn="ctr">
              <a:spcBef>
                <a:spcPts val="400"/>
              </a:spcBef>
              <a:defRPr sz="950" b="0">
                <a:solidFill>
                  <a:srgbClr val="475569"/>
                </a:solidFill>
                <a:latin typeface="Calibri"/>
              </a:defRPr>
            </a:pPr>
            <a:r>
              <a:t>Captures request text &amp;</a:t>
            </a:r>
            <a:br/>
            <a:r>
              <a:t>runs AI prediction (NLP)</a:t>
            </a:r>
          </a:p>
        </p:txBody>
      </p:sp>
      <p:sp>
        <p:nvSpPr>
          <p:cNvPr id="9" name="Rounded Rectangle 8"/>
          <p:cNvSpPr/>
          <p:nvPr/>
        </p:nvSpPr>
        <p:spPr>
          <a:xfrm>
            <a:off x="4663440" y="3108960"/>
            <a:ext cx="2743200" cy="822960"/>
          </a:xfrm>
          <a:prstGeom prst="roundRect">
            <a:avLst/>
          </a:prstGeom>
          <a:solidFill>
            <a:srgbClr val="F1F5F9"/>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tIns="73152" bIns="73152" lIns="73152" rIns="73152"/>
          <a:lstStyle/>
          <a:p>
            <a:pPr algn="ctr">
              <a:defRPr sz="1200" b="1">
                <a:solidFill>
                  <a:srgbClr val="1D4ED8"/>
                </a:solidFill>
                <a:latin typeface="Calibri"/>
              </a:defRPr>
            </a:pPr>
            <a:r>
              <a:t>2.0 Dispatch Queue</a:t>
            </a:r>
          </a:p>
          <a:p>
            <a:pPr algn="ctr">
              <a:spcBef>
                <a:spcPts val="400"/>
              </a:spcBef>
              <a:defRPr sz="950" b="0">
                <a:solidFill>
                  <a:srgbClr val="475569"/>
                </a:solidFill>
                <a:latin typeface="Calibri"/>
              </a:defRPr>
            </a:pPr>
            <a:r>
              <a:t>Routes ticket to queue &amp;</a:t>
            </a:r>
            <a:br/>
            <a:r>
              <a:t>starts live SLA countdown</a:t>
            </a:r>
          </a:p>
        </p:txBody>
      </p:sp>
      <p:sp>
        <p:nvSpPr>
          <p:cNvPr id="10" name="Rounded Rectangle 9"/>
          <p:cNvSpPr/>
          <p:nvPr/>
        </p:nvSpPr>
        <p:spPr>
          <a:xfrm>
            <a:off x="8412480" y="3108960"/>
            <a:ext cx="2743200" cy="822960"/>
          </a:xfrm>
          <a:prstGeom prst="roundRect">
            <a:avLst/>
          </a:prstGeom>
          <a:solidFill>
            <a:srgbClr val="F1F5F9"/>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tIns="73152" bIns="73152" lIns="73152" rIns="73152"/>
          <a:lstStyle/>
          <a:p>
            <a:pPr algn="ctr">
              <a:defRPr sz="1200" b="1">
                <a:solidFill>
                  <a:srgbClr val="1D4ED8"/>
                </a:solidFill>
                <a:latin typeface="Calibri"/>
              </a:defRPr>
            </a:pPr>
            <a:r>
              <a:t>3.0 Resolve &amp; Notify</a:t>
            </a:r>
          </a:p>
          <a:p>
            <a:pPr algn="ctr">
              <a:spcBef>
                <a:spcPts val="400"/>
              </a:spcBef>
              <a:defRPr sz="950" b="0">
                <a:solidFill>
                  <a:srgbClr val="475569"/>
                </a:solidFill>
                <a:latin typeface="Calibri"/>
              </a:defRPr>
            </a:pPr>
            <a:r>
              <a:t>Enables chat, updates DB, &amp;</a:t>
            </a:r>
            <a:br/>
            <a:r>
              <a:t>dispatches emergency SOS</a:t>
            </a:r>
          </a:p>
        </p:txBody>
      </p:sp>
      <p:sp>
        <p:nvSpPr>
          <p:cNvPr id="11" name="Rectangle 10"/>
          <p:cNvSpPr/>
          <p:nvPr/>
        </p:nvSpPr>
        <p:spPr>
          <a:xfrm>
            <a:off x="2743200" y="4754880"/>
            <a:ext cx="3657600" cy="254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0" y="5486400"/>
            <a:ext cx="3657600" cy="254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3200" y="23230514880"/>
            <a:ext cx="3657600" cy="-4645078848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0" y="4800600"/>
            <a:ext cx="3657600" cy="640080"/>
          </a:xfrm>
          <a:prstGeom prst="rect">
            <a:avLst/>
          </a:prstGeom>
          <a:noFill/>
        </p:spPr>
        <p:txBody>
          <a:bodyPr wrap="square">
            <a:spAutoFit/>
          </a:bodyPr>
          <a:lstStyle/>
          <a:p>
            <a:pPr algn="ctr">
              <a:defRPr sz="1200" b="1">
                <a:solidFill>
                  <a:srgbClr val="059669"/>
                </a:solidFill>
                <a:latin typeface="Calibri"/>
              </a:defRPr>
            </a:pPr>
            <a:r>
              <a:t>D1: PostgreSQL Database</a:t>
            </a:r>
          </a:p>
          <a:p>
            <a:pPr algn="ctr">
              <a:spcBef>
                <a:spcPts val="300"/>
              </a:spcBef>
              <a:defRPr sz="950">
                <a:solidFill>
                  <a:srgbClr val="475569"/>
                </a:solidFill>
                <a:latin typeface="Calibri"/>
              </a:defRPr>
            </a:pPr>
            <a:r>
              <a:t>Stores tickets, user credentials, assets, and audit logs</a:t>
            </a:r>
          </a:p>
        </p:txBody>
      </p:sp>
      <p:sp>
        <p:nvSpPr>
          <p:cNvPr id="15" name="Rounded Rectangle 14"/>
          <p:cNvSpPr/>
          <p:nvPr/>
        </p:nvSpPr>
        <p:spPr>
          <a:xfrm>
            <a:off x="7772400" y="4754880"/>
            <a:ext cx="3474720" cy="731520"/>
          </a:xfrm>
          <a:prstGeom prst="roundRect">
            <a:avLst/>
          </a:prstGeom>
          <a:solidFill>
            <a:srgbClr val="F1F5F9"/>
          </a:solidFill>
          <a:ln w="1905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wrap="square" tIns="73152" bIns="73152" lIns="73152" rIns="73152"/>
          <a:lstStyle/>
          <a:p>
            <a:pPr algn="ctr">
              <a:defRPr sz="1200" b="1">
                <a:solidFill>
                  <a:srgbClr val="0F172A"/>
                </a:solidFill>
                <a:latin typeface="Calibri"/>
              </a:defRPr>
            </a:pPr>
            <a:r>
              <a:t>FormSubmit &amp; SOS API</a:t>
            </a:r>
          </a:p>
          <a:p>
            <a:pPr algn="ctr">
              <a:spcBef>
                <a:spcPts val="400"/>
              </a:spcBef>
              <a:defRPr sz="950" b="0">
                <a:solidFill>
                  <a:srgbClr val="475569"/>
                </a:solidFill>
                <a:latin typeface="Calibri"/>
              </a:defRPr>
            </a:pPr>
            <a:r>
              <a:t>Dispatches email OTP &amp; triggers</a:t>
            </a:r>
            <a:br/>
            <a:r>
              <a:t>emergency telephony call</a:t>
            </a:r>
          </a:p>
        </p:txBody>
      </p:sp>
      <p:cxnSp>
        <p:nvCxnSpPr>
          <p:cNvPr id="16" name="Connector 15"/>
          <p:cNvCxnSpPr/>
          <p:nvPr/>
        </p:nvCxnSpPr>
        <p:spPr>
          <a:xfrm>
            <a:off x="2286000" y="2286000"/>
            <a:ext cx="0" cy="822960"/>
          </a:xfrm>
          <a:prstGeom prst="line">
            <a:avLst/>
          </a:prstGeom>
          <a:ln w="19050">
            <a:solidFill>
              <a:srgbClr val="3B82F6"/>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377440" y="2560320"/>
            <a:ext cx="2011680" cy="365760"/>
          </a:xfrm>
          <a:prstGeom prst="rect">
            <a:avLst/>
          </a:prstGeom>
          <a:noFill/>
        </p:spPr>
        <p:txBody>
          <a:bodyPr wrap="square" tIns="0" bIns="0" lIns="0" rIns="0">
            <a:spAutoFit/>
          </a:bodyPr>
          <a:lstStyle/>
          <a:p>
            <a:pPr>
              <a:defRPr sz="850" b="1">
                <a:solidFill>
                  <a:srgbClr val="475569"/>
                </a:solidFill>
                <a:latin typeface="Calibri"/>
              </a:defRPr>
            </a:pPr>
            <a:r>
              <a:t>Issue Text</a:t>
            </a:r>
          </a:p>
        </p:txBody>
      </p:sp>
      <p:cxnSp>
        <p:nvCxnSpPr>
          <p:cNvPr id="18" name="Connector 17"/>
          <p:cNvCxnSpPr/>
          <p:nvPr/>
        </p:nvCxnSpPr>
        <p:spPr>
          <a:xfrm>
            <a:off x="2286000" y="3931920"/>
            <a:ext cx="914400" cy="822960"/>
          </a:xfrm>
          <a:prstGeom prst="line">
            <a:avLst/>
          </a:prstGeom>
          <a:ln w="19050">
            <a:solidFill>
              <a:srgbClr val="3B82F6"/>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2834640" y="4206240"/>
            <a:ext cx="2011680" cy="365760"/>
          </a:xfrm>
          <a:prstGeom prst="rect">
            <a:avLst/>
          </a:prstGeom>
          <a:noFill/>
        </p:spPr>
        <p:txBody>
          <a:bodyPr wrap="square" tIns="0" bIns="0" lIns="0" rIns="0">
            <a:spAutoFit/>
          </a:bodyPr>
          <a:lstStyle/>
          <a:p>
            <a:pPr>
              <a:defRPr sz="850" b="1">
                <a:solidFill>
                  <a:srgbClr val="475569"/>
                </a:solidFill>
                <a:latin typeface="Calibri"/>
              </a:defRPr>
            </a:pPr>
            <a:r>
              <a:t>Save ticket</a:t>
            </a:r>
          </a:p>
        </p:txBody>
      </p:sp>
      <p:cxnSp>
        <p:nvCxnSpPr>
          <p:cNvPr id="20" name="Connector 19"/>
          <p:cNvCxnSpPr/>
          <p:nvPr/>
        </p:nvCxnSpPr>
        <p:spPr>
          <a:xfrm flipV="1">
            <a:off x="5943600" y="3931920"/>
            <a:ext cx="91440" cy="822960"/>
          </a:xfrm>
          <a:prstGeom prst="line">
            <a:avLst/>
          </a:prstGeom>
          <a:ln w="19050">
            <a:solidFill>
              <a:srgbClr val="3B82F6"/>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080759" y="4206240"/>
            <a:ext cx="2011680" cy="365760"/>
          </a:xfrm>
          <a:prstGeom prst="rect">
            <a:avLst/>
          </a:prstGeom>
          <a:noFill/>
        </p:spPr>
        <p:txBody>
          <a:bodyPr wrap="square" tIns="0" bIns="0" lIns="0" rIns="0">
            <a:spAutoFit/>
          </a:bodyPr>
          <a:lstStyle/>
          <a:p>
            <a:pPr>
              <a:defRPr sz="850" b="1">
                <a:solidFill>
                  <a:srgbClr val="475569"/>
                </a:solidFill>
                <a:latin typeface="Calibri"/>
              </a:defRPr>
            </a:pPr>
            <a:r>
              <a:t>Fetch ticket</a:t>
            </a:r>
          </a:p>
        </p:txBody>
      </p:sp>
      <p:cxnSp>
        <p:nvCxnSpPr>
          <p:cNvPr id="22" name="Connector 21"/>
          <p:cNvCxnSpPr/>
          <p:nvPr/>
        </p:nvCxnSpPr>
        <p:spPr>
          <a:xfrm flipV="1">
            <a:off x="6035040" y="2286000"/>
            <a:ext cx="0" cy="822960"/>
          </a:xfrm>
          <a:prstGeom prst="line">
            <a:avLst/>
          </a:prstGeom>
          <a:ln w="19050">
            <a:solidFill>
              <a:srgbClr val="3B82F6"/>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126479" y="2560320"/>
            <a:ext cx="2011680" cy="365760"/>
          </a:xfrm>
          <a:prstGeom prst="rect">
            <a:avLst/>
          </a:prstGeom>
          <a:noFill/>
        </p:spPr>
        <p:txBody>
          <a:bodyPr wrap="square" tIns="0" bIns="0" lIns="0" rIns="0">
            <a:spAutoFit/>
          </a:bodyPr>
          <a:lstStyle/>
          <a:p>
            <a:pPr>
              <a:defRPr sz="850" b="1">
                <a:solidFill>
                  <a:srgbClr val="475569"/>
                </a:solidFill>
                <a:latin typeface="Calibri"/>
              </a:defRPr>
            </a:pPr>
            <a:r>
              <a:t>Queue &amp; SLA</a:t>
            </a:r>
          </a:p>
        </p:txBody>
      </p:sp>
      <p:cxnSp>
        <p:nvCxnSpPr>
          <p:cNvPr id="24" name="Connector 23"/>
          <p:cNvCxnSpPr/>
          <p:nvPr/>
        </p:nvCxnSpPr>
        <p:spPr>
          <a:xfrm>
            <a:off x="6858000" y="2286000"/>
            <a:ext cx="1828800" cy="822960"/>
          </a:xfrm>
          <a:prstGeom prst="line">
            <a:avLst/>
          </a:prstGeom>
          <a:ln w="19050">
            <a:solidFill>
              <a:srgbClr val="3B82F6"/>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863840" y="2560320"/>
            <a:ext cx="2011680" cy="365760"/>
          </a:xfrm>
          <a:prstGeom prst="rect">
            <a:avLst/>
          </a:prstGeom>
          <a:noFill/>
        </p:spPr>
        <p:txBody>
          <a:bodyPr wrap="square" tIns="0" bIns="0" lIns="0" rIns="0">
            <a:spAutoFit/>
          </a:bodyPr>
          <a:lstStyle/>
          <a:p>
            <a:pPr>
              <a:defRPr sz="850" b="1">
                <a:solidFill>
                  <a:srgbClr val="475569"/>
                </a:solidFill>
                <a:latin typeface="Calibri"/>
              </a:defRPr>
            </a:pPr>
            <a:r>
              <a:t>Resolve/Chat</a:t>
            </a:r>
          </a:p>
        </p:txBody>
      </p:sp>
      <p:cxnSp>
        <p:nvCxnSpPr>
          <p:cNvPr id="26" name="Connector 25"/>
          <p:cNvCxnSpPr/>
          <p:nvPr/>
        </p:nvCxnSpPr>
        <p:spPr>
          <a:xfrm flipH="1">
            <a:off x="6400800" y="3931920"/>
            <a:ext cx="2011680" cy="1097280"/>
          </a:xfrm>
          <a:prstGeom prst="line">
            <a:avLst/>
          </a:prstGeom>
          <a:ln w="19050">
            <a:solidFill>
              <a:srgbClr val="3B82F6"/>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498079" y="4343400"/>
            <a:ext cx="2011680" cy="365760"/>
          </a:xfrm>
          <a:prstGeom prst="rect">
            <a:avLst/>
          </a:prstGeom>
          <a:noFill/>
        </p:spPr>
        <p:txBody>
          <a:bodyPr wrap="square" tIns="0" bIns="0" lIns="0" rIns="0">
            <a:spAutoFit/>
          </a:bodyPr>
          <a:lstStyle/>
          <a:p>
            <a:pPr>
              <a:defRPr sz="850" b="1">
                <a:solidFill>
                  <a:srgbClr val="475569"/>
                </a:solidFill>
                <a:latin typeface="Calibri"/>
              </a:defRPr>
            </a:pPr>
            <a:r>
              <a:t>Update state</a:t>
            </a:r>
          </a:p>
        </p:txBody>
      </p:sp>
      <p:cxnSp>
        <p:nvCxnSpPr>
          <p:cNvPr id="28" name="Connector 27"/>
          <p:cNvCxnSpPr/>
          <p:nvPr/>
        </p:nvCxnSpPr>
        <p:spPr>
          <a:xfrm flipH="1">
            <a:off x="9509760" y="3931920"/>
            <a:ext cx="274320" cy="822960"/>
          </a:xfrm>
          <a:prstGeom prst="line">
            <a:avLst/>
          </a:prstGeom>
          <a:ln w="19050">
            <a:solidFill>
              <a:srgbClr val="3B82F6"/>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9738360" y="4206240"/>
            <a:ext cx="2011680" cy="365760"/>
          </a:xfrm>
          <a:prstGeom prst="rect">
            <a:avLst/>
          </a:prstGeom>
          <a:noFill/>
        </p:spPr>
        <p:txBody>
          <a:bodyPr wrap="square" tIns="0" bIns="0" lIns="0" rIns="0">
            <a:spAutoFit/>
          </a:bodyPr>
          <a:lstStyle/>
          <a:p>
            <a:pPr>
              <a:defRPr sz="850" b="1">
                <a:solidFill>
                  <a:srgbClr val="475569"/>
                </a:solidFill>
                <a:latin typeface="Calibri"/>
              </a:defRPr>
            </a:pPr>
            <a:r>
              <a:t>Alert/OTP</a:t>
            </a:r>
          </a:p>
        </p:txBody>
      </p:sp>
      <p:cxnSp>
        <p:nvCxnSpPr>
          <p:cNvPr id="30" name="Connector 29"/>
          <p:cNvCxnSpPr/>
          <p:nvPr/>
        </p:nvCxnSpPr>
        <p:spPr>
          <a:xfrm flipV="1">
            <a:off x="10515600" y="2286000"/>
            <a:ext cx="0" cy="2468880"/>
          </a:xfrm>
          <a:prstGeom prst="line">
            <a:avLst/>
          </a:prstGeom>
          <a:ln w="19050">
            <a:solidFill>
              <a:srgbClr val="3B82F6"/>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607040" y="3383280"/>
            <a:ext cx="2011680" cy="365760"/>
          </a:xfrm>
          <a:prstGeom prst="rect">
            <a:avLst/>
          </a:prstGeom>
          <a:noFill/>
        </p:spPr>
        <p:txBody>
          <a:bodyPr wrap="square" tIns="0" bIns="0" lIns="0" rIns="0">
            <a:spAutoFit/>
          </a:bodyPr>
          <a:lstStyle/>
          <a:p>
            <a:pPr>
              <a:defRPr sz="850" b="1">
                <a:solidFill>
                  <a:srgbClr val="475569"/>
                </a:solidFill>
                <a:latin typeface="Calibri"/>
              </a:defRPr>
            </a:pPr>
            <a:r>
              <a:t>SOS call/Email</a:t>
            </a:r>
          </a:p>
        </p:txBody>
      </p:sp>
      <p:sp>
        <p:nvSpPr>
          <p:cNvPr id="32" name="TextBox 31"/>
          <p:cNvSpPr txBox="1"/>
          <p:nvPr/>
        </p:nvSpPr>
        <p:spPr>
          <a:xfrm>
            <a:off x="731520" y="5760720"/>
            <a:ext cx="10515600" cy="731520"/>
          </a:xfrm>
          <a:prstGeom prst="rect">
            <a:avLst/>
          </a:prstGeom>
          <a:noFill/>
        </p:spPr>
        <p:txBody>
          <a:bodyPr wrap="square">
            <a:spAutoFit/>
          </a:bodyPr>
          <a:lstStyle/>
          <a:p>
            <a:pPr algn="l">
              <a:defRPr sz="1100" b="0">
                <a:solidFill>
                  <a:srgbClr val="475569"/>
                </a:solidFill>
                <a:latin typeface="Calibri"/>
              </a:defRPr>
            </a:pPr>
            <a:r>
              <a:t>DFD Diagram Flow: Users log in and create tickets via Process 1.0. Classifier stores tickets in DB (D1). Process 2.0 pulls tickets, initiates SLA countdowns, and displays queues to Technicians. Technicians resolve tickets via Process 3.0, saving state to DB and triggering API services for alerts.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365760"/>
          </a:xfrm>
          <a:prstGeom prst="rect">
            <a:avLst/>
          </a:prstGeom>
          <a:noFill/>
        </p:spPr>
        <p:txBody>
          <a:bodyPr wrap="square">
            <a:spAutoFit/>
          </a:bodyPr>
          <a:lstStyle/>
          <a:p>
            <a:pPr algn="l">
              <a:defRPr sz="1100" b="1">
                <a:solidFill>
                  <a:srgbClr val="3B82F6"/>
                </a:solidFill>
                <a:latin typeface="Calibri"/>
              </a:defRPr>
            </a:pPr>
            <a:r>
              <a:t>SLIDE 09</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400" b="1">
                <a:solidFill>
                  <a:srgbClr val="0F172A"/>
                </a:solidFill>
                <a:latin typeface="Calibri"/>
              </a:defRPr>
            </a:pPr>
            <a:r>
              <a:t>System Workflow Process</a:t>
            </a:r>
          </a:p>
        </p:txBody>
      </p:sp>
      <p:sp>
        <p:nvSpPr>
          <p:cNvPr id="4" name="Rectangle 3"/>
          <p:cNvSpPr/>
          <p:nvPr/>
        </p:nvSpPr>
        <p:spPr>
          <a:xfrm>
            <a:off x="731520" y="1234440"/>
            <a:ext cx="384048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2011680"/>
            <a:ext cx="1920240" cy="292608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2011680"/>
            <a:ext cx="1920240" cy="4572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057400"/>
            <a:ext cx="1920240" cy="365760"/>
          </a:xfrm>
          <a:prstGeom prst="rect">
            <a:avLst/>
          </a:prstGeom>
          <a:noFill/>
        </p:spPr>
        <p:txBody>
          <a:bodyPr wrap="square">
            <a:spAutoFit/>
          </a:bodyPr>
          <a:lstStyle/>
          <a:p>
            <a:pPr algn="ctr">
              <a:defRPr sz="1300" b="1">
                <a:solidFill>
                  <a:srgbClr val="FFFFFF"/>
                </a:solidFill>
                <a:latin typeface="Calibri"/>
              </a:defRPr>
            </a:pPr>
            <a:r>
              <a:t>Step 1</a:t>
            </a:r>
          </a:p>
        </p:txBody>
      </p:sp>
      <p:sp>
        <p:nvSpPr>
          <p:cNvPr id="8" name="TextBox 7"/>
          <p:cNvSpPr txBox="1"/>
          <p:nvPr/>
        </p:nvSpPr>
        <p:spPr>
          <a:xfrm>
            <a:off x="822960" y="2560320"/>
            <a:ext cx="1737360" cy="365760"/>
          </a:xfrm>
          <a:prstGeom prst="rect">
            <a:avLst/>
          </a:prstGeom>
          <a:noFill/>
        </p:spPr>
        <p:txBody>
          <a:bodyPr wrap="square">
            <a:spAutoFit/>
          </a:bodyPr>
          <a:lstStyle/>
          <a:p>
            <a:pPr algn="ctr">
              <a:defRPr sz="1500" b="1">
                <a:solidFill>
                  <a:srgbClr val="1D4ED8"/>
                </a:solidFill>
                <a:latin typeface="Calibri"/>
              </a:defRPr>
            </a:pPr>
            <a:r>
              <a:t>Submit</a:t>
            </a:r>
          </a:p>
        </p:txBody>
      </p:sp>
      <p:sp>
        <p:nvSpPr>
          <p:cNvPr id="9" name="TextBox 8"/>
          <p:cNvSpPr txBox="1"/>
          <p:nvPr/>
        </p:nvSpPr>
        <p:spPr>
          <a:xfrm>
            <a:off x="822960" y="3108960"/>
            <a:ext cx="1737360" cy="1645920"/>
          </a:xfrm>
          <a:prstGeom prst="rect">
            <a:avLst/>
          </a:prstGeom>
          <a:noFill/>
        </p:spPr>
        <p:txBody>
          <a:bodyPr wrap="square">
            <a:spAutoFit/>
          </a:bodyPr>
          <a:lstStyle/>
          <a:p>
            <a:pPr algn="ctr">
              <a:defRPr sz="1200" b="0">
                <a:solidFill>
                  <a:srgbClr val="475569"/>
                </a:solidFill>
                <a:latin typeface="Calibri"/>
              </a:defRPr>
            </a:pPr>
            <a:r>
              <a:t>Employee types description in web portal.</a:t>
            </a:r>
          </a:p>
        </p:txBody>
      </p:sp>
      <p:sp>
        <p:nvSpPr>
          <p:cNvPr id="10" name="Rounded Rectangle 9"/>
          <p:cNvSpPr/>
          <p:nvPr/>
        </p:nvSpPr>
        <p:spPr>
          <a:xfrm>
            <a:off x="2926080" y="2011680"/>
            <a:ext cx="1920240" cy="292608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926080" y="2011680"/>
            <a:ext cx="1920240" cy="4572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26080" y="2057400"/>
            <a:ext cx="1920240" cy="365760"/>
          </a:xfrm>
          <a:prstGeom prst="rect">
            <a:avLst/>
          </a:prstGeom>
          <a:noFill/>
        </p:spPr>
        <p:txBody>
          <a:bodyPr wrap="square">
            <a:spAutoFit/>
          </a:bodyPr>
          <a:lstStyle/>
          <a:p>
            <a:pPr algn="ctr">
              <a:defRPr sz="1300" b="1">
                <a:solidFill>
                  <a:srgbClr val="FFFFFF"/>
                </a:solidFill>
                <a:latin typeface="Calibri"/>
              </a:defRPr>
            </a:pPr>
            <a:r>
              <a:t>Step 2</a:t>
            </a:r>
          </a:p>
        </p:txBody>
      </p:sp>
      <p:sp>
        <p:nvSpPr>
          <p:cNvPr id="13" name="TextBox 12"/>
          <p:cNvSpPr txBox="1"/>
          <p:nvPr/>
        </p:nvSpPr>
        <p:spPr>
          <a:xfrm>
            <a:off x="3017520" y="2560320"/>
            <a:ext cx="1737360" cy="365760"/>
          </a:xfrm>
          <a:prstGeom prst="rect">
            <a:avLst/>
          </a:prstGeom>
          <a:noFill/>
        </p:spPr>
        <p:txBody>
          <a:bodyPr wrap="square">
            <a:spAutoFit/>
          </a:bodyPr>
          <a:lstStyle/>
          <a:p>
            <a:pPr algn="ctr">
              <a:defRPr sz="1500" b="1">
                <a:solidFill>
                  <a:srgbClr val="1D4ED8"/>
                </a:solidFill>
                <a:latin typeface="Calibri"/>
              </a:defRPr>
            </a:pPr>
            <a:r>
              <a:t>AI Route</a:t>
            </a:r>
          </a:p>
        </p:txBody>
      </p:sp>
      <p:sp>
        <p:nvSpPr>
          <p:cNvPr id="14" name="TextBox 13"/>
          <p:cNvSpPr txBox="1"/>
          <p:nvPr/>
        </p:nvSpPr>
        <p:spPr>
          <a:xfrm>
            <a:off x="3017520" y="3108960"/>
            <a:ext cx="1737360" cy="1645920"/>
          </a:xfrm>
          <a:prstGeom prst="rect">
            <a:avLst/>
          </a:prstGeom>
          <a:noFill/>
        </p:spPr>
        <p:txBody>
          <a:bodyPr wrap="square">
            <a:spAutoFit/>
          </a:bodyPr>
          <a:lstStyle/>
          <a:p>
            <a:pPr algn="ctr">
              <a:defRPr sz="1200" b="0">
                <a:solidFill>
                  <a:srgbClr val="475569"/>
                </a:solidFill>
                <a:latin typeface="Calibri"/>
              </a:defRPr>
            </a:pPr>
            <a:r>
              <a:t>FastAPI processes input; sets category &amp; SLA.</a:t>
            </a:r>
          </a:p>
        </p:txBody>
      </p:sp>
      <p:sp>
        <p:nvSpPr>
          <p:cNvPr id="15" name="Rounded Rectangle 14"/>
          <p:cNvSpPr/>
          <p:nvPr/>
        </p:nvSpPr>
        <p:spPr>
          <a:xfrm>
            <a:off x="5120640" y="2011680"/>
            <a:ext cx="1920240" cy="292608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20640" y="2011680"/>
            <a:ext cx="1920240" cy="4572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0" y="2057400"/>
            <a:ext cx="1920240" cy="365760"/>
          </a:xfrm>
          <a:prstGeom prst="rect">
            <a:avLst/>
          </a:prstGeom>
          <a:noFill/>
        </p:spPr>
        <p:txBody>
          <a:bodyPr wrap="square">
            <a:spAutoFit/>
          </a:bodyPr>
          <a:lstStyle/>
          <a:p>
            <a:pPr algn="ctr">
              <a:defRPr sz="1300" b="1">
                <a:solidFill>
                  <a:srgbClr val="FFFFFF"/>
                </a:solidFill>
                <a:latin typeface="Calibri"/>
              </a:defRPr>
            </a:pPr>
            <a:r>
              <a:t>Step 3</a:t>
            </a:r>
          </a:p>
        </p:txBody>
      </p:sp>
      <p:sp>
        <p:nvSpPr>
          <p:cNvPr id="18" name="TextBox 17"/>
          <p:cNvSpPr txBox="1"/>
          <p:nvPr/>
        </p:nvSpPr>
        <p:spPr>
          <a:xfrm>
            <a:off x="5212079" y="2560320"/>
            <a:ext cx="1737360" cy="365760"/>
          </a:xfrm>
          <a:prstGeom prst="rect">
            <a:avLst/>
          </a:prstGeom>
          <a:noFill/>
        </p:spPr>
        <p:txBody>
          <a:bodyPr wrap="square">
            <a:spAutoFit/>
          </a:bodyPr>
          <a:lstStyle/>
          <a:p>
            <a:pPr algn="ctr">
              <a:defRPr sz="1500" b="1">
                <a:solidFill>
                  <a:srgbClr val="1D4ED8"/>
                </a:solidFill>
                <a:latin typeface="Calibri"/>
              </a:defRPr>
            </a:pPr>
            <a:r>
              <a:t>Database</a:t>
            </a:r>
          </a:p>
        </p:txBody>
      </p:sp>
      <p:sp>
        <p:nvSpPr>
          <p:cNvPr id="19" name="TextBox 18"/>
          <p:cNvSpPr txBox="1"/>
          <p:nvPr/>
        </p:nvSpPr>
        <p:spPr>
          <a:xfrm>
            <a:off x="5212079" y="3108960"/>
            <a:ext cx="1737360" cy="1645920"/>
          </a:xfrm>
          <a:prstGeom prst="rect">
            <a:avLst/>
          </a:prstGeom>
          <a:noFill/>
        </p:spPr>
        <p:txBody>
          <a:bodyPr wrap="square">
            <a:spAutoFit/>
          </a:bodyPr>
          <a:lstStyle/>
          <a:p>
            <a:pPr algn="ctr">
              <a:defRPr sz="1200" b="0">
                <a:solidFill>
                  <a:srgbClr val="475569"/>
                </a:solidFill>
                <a:latin typeface="Calibri"/>
              </a:defRPr>
            </a:pPr>
            <a:r>
              <a:t>Transaction is committed securely to PostgreSQL.</a:t>
            </a:r>
          </a:p>
        </p:txBody>
      </p:sp>
      <p:sp>
        <p:nvSpPr>
          <p:cNvPr id="20" name="Rounded Rectangle 19"/>
          <p:cNvSpPr/>
          <p:nvPr/>
        </p:nvSpPr>
        <p:spPr>
          <a:xfrm>
            <a:off x="7315200" y="2011680"/>
            <a:ext cx="1920240" cy="292608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0" y="2011680"/>
            <a:ext cx="1920240" cy="4572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0" y="2057400"/>
            <a:ext cx="1920240" cy="365760"/>
          </a:xfrm>
          <a:prstGeom prst="rect">
            <a:avLst/>
          </a:prstGeom>
          <a:noFill/>
        </p:spPr>
        <p:txBody>
          <a:bodyPr wrap="square">
            <a:spAutoFit/>
          </a:bodyPr>
          <a:lstStyle/>
          <a:p>
            <a:pPr algn="ctr">
              <a:defRPr sz="1300" b="1">
                <a:solidFill>
                  <a:srgbClr val="FFFFFF"/>
                </a:solidFill>
                <a:latin typeface="Calibri"/>
              </a:defRPr>
            </a:pPr>
            <a:r>
              <a:t>Step 4</a:t>
            </a:r>
          </a:p>
        </p:txBody>
      </p:sp>
      <p:sp>
        <p:nvSpPr>
          <p:cNvPr id="23" name="TextBox 22"/>
          <p:cNvSpPr txBox="1"/>
          <p:nvPr/>
        </p:nvSpPr>
        <p:spPr>
          <a:xfrm>
            <a:off x="7406640" y="2560320"/>
            <a:ext cx="1737360" cy="365760"/>
          </a:xfrm>
          <a:prstGeom prst="rect">
            <a:avLst/>
          </a:prstGeom>
          <a:noFill/>
        </p:spPr>
        <p:txBody>
          <a:bodyPr wrap="square">
            <a:spAutoFit/>
          </a:bodyPr>
          <a:lstStyle/>
          <a:p>
            <a:pPr algn="ctr">
              <a:defRPr sz="1500" b="1">
                <a:solidFill>
                  <a:srgbClr val="1D4ED8"/>
                </a:solidFill>
                <a:latin typeface="Calibri"/>
              </a:defRPr>
            </a:pPr>
            <a:r>
              <a:t>Solve &amp; Chat</a:t>
            </a:r>
          </a:p>
        </p:txBody>
      </p:sp>
      <p:sp>
        <p:nvSpPr>
          <p:cNvPr id="24" name="TextBox 23"/>
          <p:cNvSpPr txBox="1"/>
          <p:nvPr/>
        </p:nvSpPr>
        <p:spPr>
          <a:xfrm>
            <a:off x="7406640" y="3108960"/>
            <a:ext cx="1737360" cy="1645920"/>
          </a:xfrm>
          <a:prstGeom prst="rect">
            <a:avLst/>
          </a:prstGeom>
          <a:noFill/>
        </p:spPr>
        <p:txBody>
          <a:bodyPr wrap="square">
            <a:spAutoFit/>
          </a:bodyPr>
          <a:lstStyle/>
          <a:p>
            <a:pPr algn="ctr">
              <a:defRPr sz="1200" b="0">
                <a:solidFill>
                  <a:srgbClr val="475569"/>
                </a:solidFill>
                <a:latin typeface="Calibri"/>
              </a:defRPr>
            </a:pPr>
            <a:r>
              <a:t>Tech opens queue, collaborates, fixes issue.</a:t>
            </a:r>
          </a:p>
        </p:txBody>
      </p:sp>
      <p:sp>
        <p:nvSpPr>
          <p:cNvPr id="25" name="Rounded Rectangle 24"/>
          <p:cNvSpPr/>
          <p:nvPr/>
        </p:nvSpPr>
        <p:spPr>
          <a:xfrm>
            <a:off x="9509760" y="2011680"/>
            <a:ext cx="1920240" cy="292608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509760" y="2011680"/>
            <a:ext cx="1920240" cy="4572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509760" y="2057400"/>
            <a:ext cx="1920240" cy="365760"/>
          </a:xfrm>
          <a:prstGeom prst="rect">
            <a:avLst/>
          </a:prstGeom>
          <a:noFill/>
        </p:spPr>
        <p:txBody>
          <a:bodyPr wrap="square">
            <a:spAutoFit/>
          </a:bodyPr>
          <a:lstStyle/>
          <a:p>
            <a:pPr algn="ctr">
              <a:defRPr sz="1300" b="1">
                <a:solidFill>
                  <a:srgbClr val="FFFFFF"/>
                </a:solidFill>
                <a:latin typeface="Calibri"/>
              </a:defRPr>
            </a:pPr>
            <a:r>
              <a:t>Step 5</a:t>
            </a:r>
          </a:p>
        </p:txBody>
      </p:sp>
      <p:sp>
        <p:nvSpPr>
          <p:cNvPr id="28" name="TextBox 27"/>
          <p:cNvSpPr txBox="1"/>
          <p:nvPr/>
        </p:nvSpPr>
        <p:spPr>
          <a:xfrm>
            <a:off x="9601200" y="2560320"/>
            <a:ext cx="1737360" cy="365760"/>
          </a:xfrm>
          <a:prstGeom prst="rect">
            <a:avLst/>
          </a:prstGeom>
          <a:noFill/>
        </p:spPr>
        <p:txBody>
          <a:bodyPr wrap="square">
            <a:spAutoFit/>
          </a:bodyPr>
          <a:lstStyle/>
          <a:p>
            <a:pPr algn="ctr">
              <a:defRPr sz="1500" b="1">
                <a:solidFill>
                  <a:srgbClr val="1D4ED8"/>
                </a:solidFill>
                <a:latin typeface="Calibri"/>
              </a:defRPr>
            </a:pPr>
            <a:r>
              <a:t>CSAT Survey</a:t>
            </a:r>
          </a:p>
        </p:txBody>
      </p:sp>
      <p:sp>
        <p:nvSpPr>
          <p:cNvPr id="29" name="TextBox 28"/>
          <p:cNvSpPr txBox="1"/>
          <p:nvPr/>
        </p:nvSpPr>
        <p:spPr>
          <a:xfrm>
            <a:off x="9601200" y="3108960"/>
            <a:ext cx="1737360" cy="1645920"/>
          </a:xfrm>
          <a:prstGeom prst="rect">
            <a:avLst/>
          </a:prstGeom>
          <a:noFill/>
        </p:spPr>
        <p:txBody>
          <a:bodyPr wrap="square">
            <a:spAutoFit/>
          </a:bodyPr>
          <a:lstStyle/>
          <a:p>
            <a:pPr algn="ctr">
              <a:defRPr sz="1200" b="0">
                <a:solidFill>
                  <a:srgbClr val="475569"/>
                </a:solidFill>
                <a:latin typeface="Calibri"/>
              </a:defRPr>
            </a:pPr>
            <a:r>
              <a:t>Employee reviews &amp; audits are written.</a:t>
            </a:r>
          </a:p>
        </p:txBody>
      </p:sp>
      <p:sp>
        <p:nvSpPr>
          <p:cNvPr id="30" name="Right Arrow 29"/>
          <p:cNvSpPr/>
          <p:nvPr/>
        </p:nvSpPr>
        <p:spPr>
          <a:xfrm>
            <a:off x="2697480" y="3200400"/>
            <a:ext cx="228600" cy="365760"/>
          </a:xfrm>
          <a:prstGeom prst="rightArrow">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ight Arrow 30"/>
          <p:cNvSpPr/>
          <p:nvPr/>
        </p:nvSpPr>
        <p:spPr>
          <a:xfrm>
            <a:off x="4892040" y="3200400"/>
            <a:ext cx="228600" cy="365760"/>
          </a:xfrm>
          <a:prstGeom prst="rightArrow">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ight Arrow 31"/>
          <p:cNvSpPr/>
          <p:nvPr/>
        </p:nvSpPr>
        <p:spPr>
          <a:xfrm>
            <a:off x="7086599" y="3200400"/>
            <a:ext cx="228600" cy="365760"/>
          </a:xfrm>
          <a:prstGeom prst="rightArrow">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ight Arrow 32"/>
          <p:cNvSpPr/>
          <p:nvPr/>
        </p:nvSpPr>
        <p:spPr>
          <a:xfrm>
            <a:off x="9281160" y="3200400"/>
            <a:ext cx="228600" cy="365760"/>
          </a:xfrm>
          <a:prstGeom prst="rightArrow">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1520" y="5303520"/>
            <a:ext cx="10515600" cy="914400"/>
          </a:xfrm>
          <a:prstGeom prst="rect">
            <a:avLst/>
          </a:prstGeom>
          <a:noFill/>
        </p:spPr>
        <p:txBody>
          <a:bodyPr wrap="square">
            <a:spAutoFit/>
          </a:bodyPr>
          <a:lstStyle/>
          <a:p>
            <a:pPr algn="l">
              <a:defRPr sz="1300" b="0">
                <a:solidFill>
                  <a:srgbClr val="475569"/>
                </a:solidFill>
                <a:latin typeface="Calibri"/>
              </a:defRPr>
            </a:pPr>
            <a:r>
              <a:t>End-to-End Workflow: Simple issues deflection → AI category classification → Auto assignment rules → SLA monitoring countdown → Resolved state closure and log audits.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365760"/>
          </a:xfrm>
          <a:prstGeom prst="rect">
            <a:avLst/>
          </a:prstGeom>
          <a:noFill/>
        </p:spPr>
        <p:txBody>
          <a:bodyPr wrap="square">
            <a:spAutoFit/>
          </a:bodyPr>
          <a:lstStyle/>
          <a:p>
            <a:pPr algn="l">
              <a:defRPr sz="1100" b="1">
                <a:solidFill>
                  <a:srgbClr val="3B82F6"/>
                </a:solidFill>
                <a:latin typeface="Calibri"/>
              </a:defRPr>
            </a:pPr>
            <a:r>
              <a:t>SLIDE 10</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400" b="1">
                <a:solidFill>
                  <a:srgbClr val="0F172A"/>
                </a:solidFill>
                <a:latin typeface="Calibri"/>
              </a:defRPr>
            </a:pPr>
            <a:r>
              <a:t>Software &amp; Hardware Requirements</a:t>
            </a:r>
          </a:p>
        </p:txBody>
      </p:sp>
      <p:sp>
        <p:nvSpPr>
          <p:cNvPr id="4" name="Rectangle 3"/>
          <p:cNvSpPr/>
          <p:nvPr/>
        </p:nvSpPr>
        <p:spPr>
          <a:xfrm>
            <a:off x="731520" y="1234440"/>
            <a:ext cx="50292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4572000" cy="365760"/>
          </a:xfrm>
          <a:prstGeom prst="rect">
            <a:avLst/>
          </a:prstGeom>
          <a:noFill/>
        </p:spPr>
        <p:txBody>
          <a:bodyPr wrap="square">
            <a:spAutoFit/>
          </a:bodyPr>
          <a:lstStyle/>
          <a:p>
            <a:pPr algn="l">
              <a:defRPr sz="1800" b="1">
                <a:solidFill>
                  <a:srgbClr val="0F172A"/>
                </a:solidFill>
                <a:latin typeface="Calibri"/>
              </a:defRPr>
            </a:pPr>
            <a:r>
              <a:t>Software Requirements</a:t>
            </a:r>
          </a:p>
        </p:txBody>
      </p:sp>
      <p:sp>
        <p:nvSpPr>
          <p:cNvPr id="6" name="TextBox 5"/>
          <p:cNvSpPr txBox="1"/>
          <p:nvPr/>
        </p:nvSpPr>
        <p:spPr>
          <a:xfrm>
            <a:off x="731520" y="1828800"/>
            <a:ext cx="10515600" cy="2286000"/>
          </a:xfrm>
          <a:prstGeom prst="rect">
            <a:avLst/>
          </a:prstGeom>
          <a:noFill/>
        </p:spPr>
        <p:txBody>
          <a:bodyPr wrap="square">
            <a:spAutoFit/>
          </a:bodyPr>
          <a:lstStyle/>
          <a:p>
            <a:pPr algn="l">
              <a:defRPr sz="1300" b="0">
                <a:solidFill>
                  <a:srgbClr val="475569"/>
                </a:solidFill>
                <a:latin typeface="Calibri"/>
              </a:defRPr>
            </a:pPr>
          </a:p>
          <a:p>
            <a:pPr>
              <a:spcBef>
                <a:spcPts val="500"/>
              </a:spcBef>
              <a:spcAft>
                <a:spcPts val="200"/>
              </a:spcAft>
              <a:defRPr sz="1300" b="0">
                <a:solidFill>
                  <a:srgbClr val="475569"/>
                </a:solidFill>
                <a:latin typeface="Calibri"/>
              </a:defRPr>
            </a:pPr>
            <a:r>
              <a:t>▸  Frontend — HTML5, CSS3, JavaScript</a:t>
            </a:r>
          </a:p>
          <a:p>
            <a:pPr>
              <a:spcBef>
                <a:spcPts val="500"/>
              </a:spcBef>
              <a:spcAft>
                <a:spcPts val="200"/>
              </a:spcAft>
              <a:defRPr sz="1300" b="0">
                <a:solidFill>
                  <a:srgbClr val="475569"/>
                </a:solidFill>
                <a:latin typeface="Calibri"/>
              </a:defRPr>
            </a:pPr>
            <a:r>
              <a:t>▸  Backend — Python FastAPI + PostgreSQL + SQLAlchemy</a:t>
            </a:r>
          </a:p>
          <a:p>
            <a:pPr>
              <a:spcBef>
                <a:spcPts val="500"/>
              </a:spcBef>
              <a:spcAft>
                <a:spcPts val="200"/>
              </a:spcAft>
              <a:defRPr sz="1300" b="0">
                <a:solidFill>
                  <a:srgbClr val="475569"/>
                </a:solidFill>
                <a:latin typeface="Calibri"/>
              </a:defRPr>
            </a:pPr>
            <a:r>
              <a:t>▸  AI Models — Hugging Face (DistilBERT + RoBERTa)</a:t>
            </a:r>
          </a:p>
          <a:p>
            <a:pPr>
              <a:spcBef>
                <a:spcPts val="500"/>
              </a:spcBef>
              <a:spcAft>
                <a:spcPts val="200"/>
              </a:spcAft>
              <a:defRPr sz="1300" b="0">
                <a:solidFill>
                  <a:srgbClr val="475569"/>
                </a:solidFill>
                <a:latin typeface="Calibri"/>
              </a:defRPr>
            </a:pPr>
            <a:r>
              <a:t>▸  Email API — FormSubmit.co (2FA OTP &amp; SOS alerts)</a:t>
            </a:r>
          </a:p>
          <a:p>
            <a:pPr>
              <a:spcBef>
                <a:spcPts val="500"/>
              </a:spcBef>
              <a:spcAft>
                <a:spcPts val="200"/>
              </a:spcAft>
              <a:defRPr sz="1300" b="0">
                <a:solidFill>
                  <a:srgbClr val="475569"/>
                </a:solidFill>
                <a:latin typeface="Calibri"/>
              </a:defRPr>
            </a:pPr>
            <a:r>
              <a:t>▸  IDE — Eclipse IDE | Browser — Chrome / Edge</a:t>
            </a:r>
          </a:p>
        </p:txBody>
      </p:sp>
      <p:sp>
        <p:nvSpPr>
          <p:cNvPr id="7" name="TextBox 6"/>
          <p:cNvSpPr txBox="1"/>
          <p:nvPr/>
        </p:nvSpPr>
        <p:spPr>
          <a:xfrm>
            <a:off x="731520" y="4480560"/>
            <a:ext cx="4572000" cy="365760"/>
          </a:xfrm>
          <a:prstGeom prst="rect">
            <a:avLst/>
          </a:prstGeom>
          <a:noFill/>
        </p:spPr>
        <p:txBody>
          <a:bodyPr wrap="square">
            <a:spAutoFit/>
          </a:bodyPr>
          <a:lstStyle/>
          <a:p>
            <a:pPr algn="l">
              <a:defRPr sz="1800" b="1">
                <a:solidFill>
                  <a:srgbClr val="0F172A"/>
                </a:solidFill>
                <a:latin typeface="Calibri"/>
              </a:defRPr>
            </a:pPr>
            <a:r>
              <a:t>Hardware Requirements</a:t>
            </a:r>
          </a:p>
        </p:txBody>
      </p:sp>
      <p:sp>
        <p:nvSpPr>
          <p:cNvPr id="8" name="TextBox 7"/>
          <p:cNvSpPr txBox="1"/>
          <p:nvPr/>
        </p:nvSpPr>
        <p:spPr>
          <a:xfrm>
            <a:off x="731520" y="4846320"/>
            <a:ext cx="10515600" cy="1828800"/>
          </a:xfrm>
          <a:prstGeom prst="rect">
            <a:avLst/>
          </a:prstGeom>
          <a:noFill/>
        </p:spPr>
        <p:txBody>
          <a:bodyPr wrap="square">
            <a:spAutoFit/>
          </a:bodyPr>
          <a:lstStyle/>
          <a:p>
            <a:pPr algn="l">
              <a:defRPr sz="1300" b="0">
                <a:solidFill>
                  <a:srgbClr val="475569"/>
                </a:solidFill>
                <a:latin typeface="Calibri"/>
              </a:defRPr>
            </a:pPr>
          </a:p>
          <a:p>
            <a:pPr>
              <a:spcBef>
                <a:spcPts val="500"/>
              </a:spcBef>
              <a:spcAft>
                <a:spcPts val="200"/>
              </a:spcAft>
              <a:defRPr sz="1300" b="0">
                <a:solidFill>
                  <a:srgbClr val="475569"/>
                </a:solidFill>
                <a:latin typeface="Calibri"/>
              </a:defRPr>
            </a:pPr>
            <a:r>
              <a:t>▸  Processor — Intel Core i3 or above</a:t>
            </a:r>
          </a:p>
          <a:p>
            <a:pPr>
              <a:spcBef>
                <a:spcPts val="500"/>
              </a:spcBef>
              <a:spcAft>
                <a:spcPts val="200"/>
              </a:spcAft>
              <a:defRPr sz="1300" b="0">
                <a:solidFill>
                  <a:srgbClr val="475569"/>
                </a:solidFill>
                <a:latin typeface="Calibri"/>
              </a:defRPr>
            </a:pPr>
            <a:r>
              <a:t>▸  RAM — Minimum 4 GB (8 GB recommended)</a:t>
            </a:r>
          </a:p>
          <a:p>
            <a:pPr>
              <a:spcBef>
                <a:spcPts val="500"/>
              </a:spcBef>
              <a:spcAft>
                <a:spcPts val="200"/>
              </a:spcAft>
              <a:defRPr sz="1300" b="0">
                <a:solidFill>
                  <a:srgbClr val="475569"/>
                </a:solidFill>
                <a:latin typeface="Calibri"/>
              </a:defRPr>
            </a:pPr>
            <a:r>
              <a:t>▸  Storage — Minimum 2 GB free disk space</a:t>
            </a:r>
          </a:p>
          <a:p>
            <a:pPr>
              <a:spcBef>
                <a:spcPts val="500"/>
              </a:spcBef>
              <a:spcAft>
                <a:spcPts val="200"/>
              </a:spcAft>
              <a:defRPr sz="1300" b="0">
                <a:solidFill>
                  <a:srgbClr val="475569"/>
                </a:solidFill>
                <a:latin typeface="Calibri"/>
              </a:defRPr>
            </a:pPr>
            <a:r>
              <a:t>▸  OS — Windows 10/11, macOS, or Linux with internet connection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2743200" cy="365760"/>
          </a:xfrm>
          <a:prstGeom prst="rect">
            <a:avLst/>
          </a:prstGeom>
          <a:noFill/>
        </p:spPr>
        <p:txBody>
          <a:bodyPr wrap="square">
            <a:spAutoFit/>
          </a:bodyPr>
          <a:lstStyle/>
          <a:p>
            <a:pPr algn="l">
              <a:defRPr sz="1100" b="1">
                <a:solidFill>
                  <a:srgbClr val="3B82F6"/>
                </a:solidFill>
                <a:latin typeface="Calibri"/>
              </a:defRPr>
            </a:pPr>
            <a:r>
              <a:t>SLIDE 11</a:t>
            </a:r>
          </a:p>
        </p:txBody>
      </p:sp>
      <p:sp>
        <p:nvSpPr>
          <p:cNvPr id="3" name="TextBox 2"/>
          <p:cNvSpPr txBox="1"/>
          <p:nvPr/>
        </p:nvSpPr>
        <p:spPr>
          <a:xfrm>
            <a:off x="731520" y="731520"/>
            <a:ext cx="9144000" cy="548640"/>
          </a:xfrm>
          <a:prstGeom prst="rect">
            <a:avLst/>
          </a:prstGeom>
          <a:noFill/>
        </p:spPr>
        <p:txBody>
          <a:bodyPr wrap="square">
            <a:spAutoFit/>
          </a:bodyPr>
          <a:lstStyle/>
          <a:p>
            <a:pPr algn="l">
              <a:defRPr sz="3400" b="1">
                <a:solidFill>
                  <a:srgbClr val="0F172A"/>
                </a:solidFill>
                <a:latin typeface="Calibri"/>
              </a:defRPr>
            </a:pPr>
            <a:r>
              <a:t>Conclusion</a:t>
            </a:r>
          </a:p>
        </p:txBody>
      </p:sp>
      <p:sp>
        <p:nvSpPr>
          <p:cNvPr id="4" name="Rectangle 3"/>
          <p:cNvSpPr/>
          <p:nvPr/>
        </p:nvSpPr>
        <p:spPr>
          <a:xfrm>
            <a:off x="731520" y="1234440"/>
            <a:ext cx="22860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5029200" cy="4572000"/>
          </a:xfrm>
          <a:prstGeom prst="rect">
            <a:avLst/>
          </a:prstGeom>
          <a:noFill/>
        </p:spPr>
        <p:txBody>
          <a:bodyPr wrap="square">
            <a:spAutoFit/>
          </a:bodyPr>
          <a:lstStyle/>
          <a:p>
            <a:pPr algn="l">
              <a:spcAft>
                <a:spcPts val="1200"/>
              </a:spcAft>
              <a:defRPr sz="1800" b="1">
                <a:solidFill>
                  <a:srgbClr val="1D4ED8"/>
                </a:solidFill>
                <a:latin typeface="Calibri"/>
              </a:defRPr>
            </a:pPr>
            <a:r>
              <a:t>Key Outcomes</a:t>
            </a:r>
          </a:p>
          <a:p>
            <a:pPr>
              <a:spcBef>
                <a:spcPts val="800"/>
              </a:spcBef>
              <a:spcAft>
                <a:spcPts val="600"/>
              </a:spcAft>
              <a:defRPr sz="1300" b="0">
                <a:solidFill>
                  <a:srgbClr val="475569"/>
                </a:solidFill>
                <a:latin typeface="Calibri"/>
              </a:defRPr>
            </a:pPr>
            <a:r>
              <a:t>▸  Automated Triage: NLP models classify incoming service requests and set priority in real time, eliminating manual queues and human dispatch errors.</a:t>
            </a:r>
          </a:p>
          <a:p>
            <a:pPr>
              <a:spcBef>
                <a:spcPts val="800"/>
              </a:spcBef>
              <a:spcAft>
                <a:spcPts val="600"/>
              </a:spcAft>
              <a:defRPr sz="1300" b="0">
                <a:solidFill>
                  <a:srgbClr val="475569"/>
                </a:solidFill>
                <a:latin typeface="Calibri"/>
              </a:defRPr>
            </a:pPr>
            <a:r>
              <a:t>▸  SLA Compliance: Real-time visual countdown timers enforce strict resolution deadlines based on ticket priority levels.</a:t>
            </a:r>
          </a:p>
          <a:p>
            <a:pPr>
              <a:spcBef>
                <a:spcPts val="800"/>
              </a:spcBef>
              <a:spcAft>
                <a:spcPts val="600"/>
              </a:spcAft>
              <a:defRPr sz="1300" b="0">
                <a:solidFill>
                  <a:srgbClr val="475569"/>
                </a:solidFill>
                <a:latin typeface="Calibri"/>
              </a:defRPr>
            </a:pPr>
            <a:r>
              <a:t>▸  Emergency Readiness: Integrated SOS alerts and 2FA authentication secure internal operations and expedite emergency handling.</a:t>
            </a:r>
          </a:p>
        </p:txBody>
      </p:sp>
      <p:sp>
        <p:nvSpPr>
          <p:cNvPr id="6" name="TextBox 5"/>
          <p:cNvSpPr txBox="1"/>
          <p:nvPr/>
        </p:nvSpPr>
        <p:spPr>
          <a:xfrm>
            <a:off x="6217920" y="1645920"/>
            <a:ext cx="5029200" cy="4572000"/>
          </a:xfrm>
          <a:prstGeom prst="rect">
            <a:avLst/>
          </a:prstGeom>
          <a:noFill/>
        </p:spPr>
        <p:txBody>
          <a:bodyPr wrap="square">
            <a:spAutoFit/>
          </a:bodyPr>
          <a:lstStyle/>
          <a:p>
            <a:pPr algn="l">
              <a:spcAft>
                <a:spcPts val="1200"/>
              </a:spcAft>
              <a:defRPr sz="1800" b="1">
                <a:solidFill>
                  <a:srgbClr val="059669"/>
                </a:solidFill>
                <a:latin typeface="Calibri"/>
              </a:defRPr>
            </a:pPr>
            <a:r>
              <a:t>Future Scope</a:t>
            </a:r>
          </a:p>
          <a:p>
            <a:pPr>
              <a:spcBef>
                <a:spcPts val="800"/>
              </a:spcBef>
              <a:spcAft>
                <a:spcPts val="600"/>
              </a:spcAft>
              <a:defRPr sz="1300" b="0">
                <a:solidFill>
                  <a:srgbClr val="475569"/>
                </a:solidFill>
                <a:latin typeface="Calibri"/>
              </a:defRPr>
            </a:pPr>
            <a:r>
              <a:t>▸  Domain Adaptation: Retrain models on industry-specific vocabularies to improve classification accuracy for complex requests.</a:t>
            </a:r>
          </a:p>
          <a:p>
            <a:pPr>
              <a:spcBef>
                <a:spcPts val="800"/>
              </a:spcBef>
              <a:spcAft>
                <a:spcPts val="600"/>
              </a:spcAft>
              <a:defRPr sz="1300" b="0">
                <a:solidFill>
                  <a:srgbClr val="475569"/>
                </a:solidFill>
                <a:latin typeface="Calibri"/>
              </a:defRPr>
            </a:pPr>
            <a:r>
              <a:t>▸  IoT Integrations: Connect facility sensors to trigger automated maintenance alerts before equipment failure occurs.</a:t>
            </a:r>
          </a:p>
          <a:p>
            <a:pPr>
              <a:spcBef>
                <a:spcPts val="800"/>
              </a:spcBef>
              <a:spcAft>
                <a:spcPts val="600"/>
              </a:spcAft>
              <a:defRPr sz="1300" b="0">
                <a:solidFill>
                  <a:srgbClr val="475569"/>
                </a:solidFill>
                <a:latin typeface="Calibri"/>
              </a:defRPr>
            </a:pPr>
            <a:r>
              <a:t>▸  Advanced Workflows: Incorporate AI-based cost and resource predictions for complex enterprise hardware changes.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371600" y="2377440"/>
            <a:ext cx="9418320" cy="1097280"/>
          </a:xfrm>
          <a:prstGeom prst="rect">
            <a:avLst/>
          </a:prstGeom>
          <a:noFill/>
        </p:spPr>
        <p:txBody>
          <a:bodyPr wrap="square">
            <a:spAutoFit/>
          </a:bodyPr>
          <a:lstStyle/>
          <a:p>
            <a:pPr algn="ctr">
              <a:defRPr sz="6400" b="1">
                <a:solidFill>
                  <a:srgbClr val="FFFFFF"/>
                </a:solidFill>
                <a:latin typeface="Calibri"/>
              </a:defRPr>
            </a:pPr>
            <a:r>
              <a:t>Thank You!</a:t>
            </a:r>
          </a:p>
        </p:txBody>
      </p:sp>
      <p:sp>
        <p:nvSpPr>
          <p:cNvPr id="3" name="TextBox 2"/>
          <p:cNvSpPr txBox="1"/>
          <p:nvPr/>
        </p:nvSpPr>
        <p:spPr>
          <a:xfrm>
            <a:off x="1371600" y="3566160"/>
            <a:ext cx="9418320" cy="548640"/>
          </a:xfrm>
          <a:prstGeom prst="rect">
            <a:avLst/>
          </a:prstGeom>
          <a:noFill/>
        </p:spPr>
        <p:txBody>
          <a:bodyPr wrap="square">
            <a:spAutoFit/>
          </a:bodyPr>
          <a:lstStyle/>
          <a:p>
            <a:pPr algn="ctr">
              <a:defRPr sz="2200" b="0">
                <a:solidFill>
                  <a:srgbClr val="94A3B8"/>
                </a:solidFill>
                <a:latin typeface="Calibri"/>
              </a:defRPr>
            </a:pPr>
            <a:r>
              <a:t>We appreciate your time and feedback.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